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9"/>
  </p:notesMasterIdLst>
  <p:handoutMasterIdLst>
    <p:handoutMasterId r:id="rId10"/>
  </p:handoutMasterIdLst>
  <p:sldIdLst>
    <p:sldId id="3009" r:id="rId2"/>
    <p:sldId id="3010" r:id="rId3"/>
    <p:sldId id="3011" r:id="rId4"/>
    <p:sldId id="3012" r:id="rId5"/>
    <p:sldId id="3013" r:id="rId6"/>
    <p:sldId id="3014" r:id="rId7"/>
    <p:sldId id="3015" r:id="rId8"/>
  </p:sldIdLst>
  <p:sldSz cx="12192000" cy="6858000"/>
  <p:notesSz cx="9875838" cy="6742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8" y="5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6490"/>
    </p:cViewPr>
  </p:sorterViewPr>
  <p:notesViewPr>
    <p:cSldViewPr snapToGrid="0">
      <p:cViewPr varScale="1">
        <p:scale>
          <a:sx n="132" d="100"/>
          <a:sy n="132" d="100"/>
        </p:scale>
        <p:origin x="561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41F8D07-C816-4EA5-8632-09EE2BAB9B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4388D0-BCFD-FA83-A869-2D45C26056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4024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FAECC-ED9A-4243-A8FB-ECBE51B74931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9F4BB-B8AD-651D-12BE-20AF3E03CA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408A61-9A6D-8BA0-8ABB-25C2C38585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4024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07A6-A91B-4253-A7BB-5098ED30E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28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6309" y="59833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DA1A-B315-453A-B1F2-119699FE817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8119D33A-15A7-5300-5D81-BB27F30EF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8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585" y="3244642"/>
            <a:ext cx="7900670" cy="2654707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03744" y="7556619"/>
            <a:ext cx="4210466" cy="397790"/>
          </a:xfrm>
          <a:prstGeom prst="rect">
            <a:avLst/>
          </a:prstGeom>
        </p:spPr>
        <p:txBody>
          <a:bodyPr/>
          <a:lstStyle/>
          <a:p>
            <a:fld id="{96188ACF-FB21-4870-9A37-E58C25E3BF2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1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316EF-50A9-4678-9393-F382547C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3D61E-D2B4-42E8-925E-FF756317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553"/>
            <a:ext cx="5157787" cy="519521"/>
          </a:xfrm>
        </p:spPr>
        <p:txBody>
          <a:bodyPr anchor="ctr">
            <a:normAutofit/>
          </a:bodyPr>
          <a:lstStyle>
            <a:lvl1pPr marL="0" indent="0">
              <a:buNone/>
              <a:defRPr sz="1600" b="1">
                <a:latin typeface="Pretendard"/>
                <a:ea typeface="Pretendard"/>
              </a:defRPr>
            </a:lvl1pPr>
            <a:lvl2pPr marL="457200" indent="0">
              <a:buNone/>
              <a:defRPr sz="2000" b="1">
                <a:latin typeface="Pretendard"/>
                <a:ea typeface="Pretendard"/>
              </a:defRPr>
            </a:lvl2pPr>
            <a:lvl3pPr marL="914400" indent="0">
              <a:buNone/>
              <a:defRPr sz="1800" b="1">
                <a:latin typeface="Pretendard"/>
                <a:ea typeface="Pretendard"/>
              </a:defRPr>
            </a:lvl3pPr>
            <a:lvl4pPr marL="1371600" indent="0">
              <a:buNone/>
              <a:defRPr sz="1600" b="1">
                <a:latin typeface="Pretendard"/>
                <a:ea typeface="Pretendard"/>
              </a:defRPr>
            </a:lvl4pPr>
            <a:lvl5pPr marL="1828800" indent="0">
              <a:buNone/>
              <a:defRPr sz="1600" b="1">
                <a:latin typeface="Pretendard"/>
                <a:ea typeface="Pretendard"/>
              </a:defRPr>
            </a:lvl5pPr>
            <a:lvl6pPr marL="2286000" indent="0">
              <a:buNone/>
              <a:defRPr sz="1600" b="1">
                <a:latin typeface="Pretendard"/>
                <a:ea typeface="Pretendard"/>
              </a:defRPr>
            </a:lvl6pPr>
            <a:lvl7pPr marL="2743200" indent="0">
              <a:buNone/>
              <a:defRPr sz="1600" b="1">
                <a:latin typeface="Pretendard"/>
                <a:ea typeface="Pretendard"/>
              </a:defRPr>
            </a:lvl7pPr>
            <a:lvl8pPr marL="3200400" indent="0">
              <a:buNone/>
              <a:defRPr sz="1600" b="1">
                <a:latin typeface="Pretendard"/>
                <a:ea typeface="Pretendard"/>
              </a:defRPr>
            </a:lvl8pPr>
            <a:lvl9pPr marL="3657600" indent="0">
              <a:buNone/>
              <a:defRPr sz="1600" b="1">
                <a:latin typeface="Pretendard"/>
                <a:ea typeface="Pretendard"/>
              </a:defRPr>
            </a:lvl9pPr>
          </a:lstStyle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8E9BA4-FB39-4602-80C6-1C3C02873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3C81B2-EDAB-4DDE-84E0-AFF852EF5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553"/>
            <a:ext cx="5183188" cy="519522"/>
          </a:xfrm>
        </p:spPr>
        <p:txBody>
          <a:bodyPr anchor="ctr">
            <a:normAutofit/>
          </a:bodyPr>
          <a:lstStyle>
            <a:lvl1pPr marL="0" indent="0">
              <a:buNone/>
              <a:defRPr sz="1600" b="1">
                <a:latin typeface="Pretendard"/>
                <a:ea typeface="Pretendard"/>
              </a:defRPr>
            </a:lvl1pPr>
            <a:lvl2pPr marL="457200" indent="0">
              <a:buNone/>
              <a:defRPr sz="2000" b="1">
                <a:latin typeface="Pretendard"/>
                <a:ea typeface="Pretendard"/>
              </a:defRPr>
            </a:lvl2pPr>
            <a:lvl3pPr marL="914400" indent="0">
              <a:buNone/>
              <a:defRPr sz="1800" b="1">
                <a:latin typeface="Pretendard"/>
                <a:ea typeface="Pretendard"/>
              </a:defRPr>
            </a:lvl3pPr>
            <a:lvl4pPr marL="1371600" indent="0">
              <a:buNone/>
              <a:defRPr sz="1600" b="1">
                <a:latin typeface="Pretendard"/>
                <a:ea typeface="Pretendard"/>
              </a:defRPr>
            </a:lvl4pPr>
            <a:lvl5pPr marL="1828800" indent="0">
              <a:buNone/>
              <a:defRPr sz="1600" b="1">
                <a:latin typeface="Pretendard"/>
                <a:ea typeface="Pretendard"/>
              </a:defRPr>
            </a:lvl5pPr>
            <a:lvl6pPr marL="2286000" indent="0">
              <a:buNone/>
              <a:defRPr sz="1600" b="1">
                <a:latin typeface="Pretendard"/>
                <a:ea typeface="Pretendard"/>
              </a:defRPr>
            </a:lvl6pPr>
            <a:lvl7pPr marL="2743200" indent="0">
              <a:buNone/>
              <a:defRPr sz="1600" b="1">
                <a:latin typeface="Pretendard"/>
                <a:ea typeface="Pretendard"/>
              </a:defRPr>
            </a:lvl7pPr>
            <a:lvl8pPr marL="3200400" indent="0">
              <a:buNone/>
              <a:defRPr sz="1600" b="1">
                <a:latin typeface="Pretendard"/>
                <a:ea typeface="Pretendard"/>
              </a:defRPr>
            </a:lvl8pPr>
            <a:lvl9pPr marL="3657600" indent="0">
              <a:buNone/>
              <a:defRPr sz="1600" b="1">
                <a:latin typeface="Pretendard"/>
                <a:ea typeface="Pretendard"/>
              </a:defRPr>
            </a:lvl9pPr>
          </a:lstStyle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32B60E-A6EF-4E1E-BE20-4E34BE33C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7750FC9F-7912-E351-2A0E-64CE29C3A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84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7BC4FF2-B026-3861-C52C-B0C3C9B7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1A20C-4CB5-9B6A-21DD-838B5058D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8282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 userDrawn="1"/>
        </p:nvGrpSpPr>
        <p:grpSpPr bwMode="auto">
          <a:xfrm>
            <a:off x="1325490" y="305467"/>
            <a:ext cx="1816447" cy="305001"/>
            <a:chOff x="5137" y="4139"/>
            <a:chExt cx="335" cy="75"/>
          </a:xfrm>
          <a:solidFill>
            <a:schemeClr val="bg1"/>
          </a:solidFill>
        </p:grpSpPr>
        <p:sp>
          <p:nvSpPr>
            <p:cNvPr id="8" name="Freeform 5"/>
            <p:cNvSpPr>
              <a:spLocks noEditPoints="1"/>
            </p:cNvSpPr>
            <p:nvPr userDrawn="1"/>
          </p:nvSpPr>
          <p:spPr bwMode="auto">
            <a:xfrm>
              <a:off x="5137" y="4139"/>
              <a:ext cx="324" cy="75"/>
            </a:xfrm>
            <a:custGeom>
              <a:avLst/>
              <a:gdLst>
                <a:gd name="T0" fmla="*/ 660 w 3745"/>
                <a:gd name="T1" fmla="*/ 0 h 863"/>
                <a:gd name="T2" fmla="*/ 0 w 3745"/>
                <a:gd name="T3" fmla="*/ 73 h 863"/>
                <a:gd name="T4" fmla="*/ 292 w 3745"/>
                <a:gd name="T5" fmla="*/ 804 h 863"/>
                <a:gd name="T6" fmla="*/ 399 w 3745"/>
                <a:gd name="T7" fmla="*/ 863 h 863"/>
                <a:gd name="T8" fmla="*/ 637 w 3745"/>
                <a:gd name="T9" fmla="*/ 73 h 863"/>
                <a:gd name="T10" fmla="*/ 660 w 3745"/>
                <a:gd name="T11" fmla="*/ 0 h 863"/>
                <a:gd name="T12" fmla="*/ 2673 w 3745"/>
                <a:gd name="T13" fmla="*/ 181 h 863"/>
                <a:gd name="T14" fmla="*/ 2408 w 3745"/>
                <a:gd name="T15" fmla="*/ 768 h 863"/>
                <a:gd name="T16" fmla="*/ 2522 w 3745"/>
                <a:gd name="T17" fmla="*/ 729 h 863"/>
                <a:gd name="T18" fmla="*/ 2698 w 3745"/>
                <a:gd name="T19" fmla="*/ 596 h 863"/>
                <a:gd name="T20" fmla="*/ 2590 w 3745"/>
                <a:gd name="T21" fmla="*/ 533 h 863"/>
                <a:gd name="T22" fmla="*/ 2812 w 3745"/>
                <a:gd name="T23" fmla="*/ 729 h 863"/>
                <a:gd name="T24" fmla="*/ 2941 w 3745"/>
                <a:gd name="T25" fmla="*/ 768 h 863"/>
                <a:gd name="T26" fmla="*/ 2673 w 3745"/>
                <a:gd name="T27" fmla="*/ 181 h 863"/>
                <a:gd name="T28" fmla="*/ 3529 w 3745"/>
                <a:gd name="T29" fmla="*/ 203 h 863"/>
                <a:gd name="T30" fmla="*/ 3425 w 3745"/>
                <a:gd name="T31" fmla="*/ 203 h 863"/>
                <a:gd name="T32" fmla="*/ 3252 w 3745"/>
                <a:gd name="T33" fmla="*/ 768 h 863"/>
                <a:gd name="T34" fmla="*/ 3374 w 3745"/>
                <a:gd name="T35" fmla="*/ 596 h 863"/>
                <a:gd name="T36" fmla="*/ 3483 w 3745"/>
                <a:gd name="T37" fmla="*/ 533 h 863"/>
                <a:gd name="T38" fmla="*/ 3473 w 3745"/>
                <a:gd name="T39" fmla="*/ 310 h 863"/>
                <a:gd name="T40" fmla="*/ 3695 w 3745"/>
                <a:gd name="T41" fmla="*/ 768 h 863"/>
                <a:gd name="T42" fmla="*/ 3529 w 3745"/>
                <a:gd name="T43" fmla="*/ 203 h 863"/>
                <a:gd name="T44" fmla="*/ 1655 w 3745"/>
                <a:gd name="T45" fmla="*/ 181 h 863"/>
                <a:gd name="T46" fmla="*/ 1603 w 3745"/>
                <a:gd name="T47" fmla="*/ 203 h 863"/>
                <a:gd name="T48" fmla="*/ 1247 w 3745"/>
                <a:gd name="T49" fmla="*/ 515 h 863"/>
                <a:gd name="T50" fmla="*/ 1374 w 3745"/>
                <a:gd name="T51" fmla="*/ 336 h 863"/>
                <a:gd name="T52" fmla="*/ 969 w 3745"/>
                <a:gd name="T53" fmla="*/ 189 h 863"/>
                <a:gd name="T54" fmla="*/ 737 w 3745"/>
                <a:gd name="T55" fmla="*/ 704 h 863"/>
                <a:gd name="T56" fmla="*/ 625 w 3745"/>
                <a:gd name="T57" fmla="*/ 488 h 863"/>
                <a:gd name="T58" fmla="*/ 816 w 3745"/>
                <a:gd name="T59" fmla="*/ 424 h 863"/>
                <a:gd name="T60" fmla="*/ 625 w 3745"/>
                <a:gd name="T61" fmla="*/ 253 h 863"/>
                <a:gd name="T62" fmla="*/ 897 w 3745"/>
                <a:gd name="T63" fmla="*/ 189 h 863"/>
                <a:gd name="T64" fmla="*/ 520 w 3745"/>
                <a:gd name="T65" fmla="*/ 590 h 863"/>
                <a:gd name="T66" fmla="*/ 1074 w 3745"/>
                <a:gd name="T67" fmla="*/ 766 h 863"/>
                <a:gd name="T68" fmla="*/ 1149 w 3745"/>
                <a:gd name="T69" fmla="*/ 253 h 863"/>
                <a:gd name="T70" fmla="*/ 1271 w 3745"/>
                <a:gd name="T71" fmla="*/ 387 h 863"/>
                <a:gd name="T72" fmla="*/ 1110 w 3745"/>
                <a:gd name="T73" fmla="*/ 461 h 863"/>
                <a:gd name="T74" fmla="*/ 1338 w 3745"/>
                <a:gd name="T75" fmla="*/ 768 h 863"/>
                <a:gd name="T76" fmla="*/ 1505 w 3745"/>
                <a:gd name="T77" fmla="*/ 729 h 863"/>
                <a:gd name="T78" fmla="*/ 1680 w 3745"/>
                <a:gd name="T79" fmla="*/ 596 h 863"/>
                <a:gd name="T80" fmla="*/ 1573 w 3745"/>
                <a:gd name="T81" fmla="*/ 533 h 863"/>
                <a:gd name="T82" fmla="*/ 1795 w 3745"/>
                <a:gd name="T83" fmla="*/ 729 h 863"/>
                <a:gd name="T84" fmla="*/ 1923 w 3745"/>
                <a:gd name="T85" fmla="*/ 768 h 863"/>
                <a:gd name="T86" fmla="*/ 1655 w 3745"/>
                <a:gd name="T87" fmla="*/ 181 h 863"/>
                <a:gd name="T88" fmla="*/ 2304 w 3745"/>
                <a:gd name="T89" fmla="*/ 530 h 863"/>
                <a:gd name="T90" fmla="*/ 2068 w 3745"/>
                <a:gd name="T91" fmla="*/ 704 h 863"/>
                <a:gd name="T92" fmla="*/ 2159 w 3745"/>
                <a:gd name="T93" fmla="*/ 253 h 863"/>
                <a:gd name="T94" fmla="*/ 2304 w 3745"/>
                <a:gd name="T95" fmla="*/ 530 h 863"/>
                <a:gd name="T96" fmla="*/ 2409 w 3745"/>
                <a:gd name="T97" fmla="*/ 432 h 863"/>
                <a:gd name="T98" fmla="*/ 2159 w 3745"/>
                <a:gd name="T99" fmla="*/ 189 h 863"/>
                <a:gd name="T100" fmla="*/ 1963 w 3745"/>
                <a:gd name="T101" fmla="*/ 709 h 863"/>
                <a:gd name="T102" fmla="*/ 2159 w 3745"/>
                <a:gd name="T103" fmla="*/ 768 h 863"/>
                <a:gd name="T104" fmla="*/ 2409 w 3745"/>
                <a:gd name="T105" fmla="*/ 530 h 863"/>
                <a:gd name="T106" fmla="*/ 2409 w 3745"/>
                <a:gd name="T107" fmla="*/ 432 h 863"/>
                <a:gd name="T108" fmla="*/ 3332 w 3745"/>
                <a:gd name="T109" fmla="*/ 190 h 863"/>
                <a:gd name="T110" fmla="*/ 2831 w 3745"/>
                <a:gd name="T111" fmla="*/ 254 h 863"/>
                <a:gd name="T112" fmla="*/ 3028 w 3745"/>
                <a:gd name="T113" fmla="*/ 710 h 863"/>
                <a:gd name="T114" fmla="*/ 3135 w 3745"/>
                <a:gd name="T115" fmla="*/ 768 h 863"/>
                <a:gd name="T116" fmla="*/ 3313 w 3745"/>
                <a:gd name="T117" fmla="*/ 254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5" h="863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Pretendard"/>
                <a:ea typeface="Pretendard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5464" y="4197"/>
              <a:ext cx="8" cy="9"/>
            </a:xfrm>
            <a:custGeom>
              <a:avLst/>
              <a:gdLst>
                <a:gd name="T0" fmla="*/ 59 w 99"/>
                <a:gd name="T1" fmla="*/ 30 h 98"/>
                <a:gd name="T2" fmla="*/ 59 w 99"/>
                <a:gd name="T3" fmla="*/ 30 h 98"/>
                <a:gd name="T4" fmla="*/ 47 w 99"/>
                <a:gd name="T5" fmla="*/ 28 h 98"/>
                <a:gd name="T6" fmla="*/ 39 w 99"/>
                <a:gd name="T7" fmla="*/ 28 h 98"/>
                <a:gd name="T8" fmla="*/ 39 w 99"/>
                <a:gd name="T9" fmla="*/ 48 h 98"/>
                <a:gd name="T10" fmla="*/ 48 w 99"/>
                <a:gd name="T11" fmla="*/ 48 h 98"/>
                <a:gd name="T12" fmla="*/ 57 w 99"/>
                <a:gd name="T13" fmla="*/ 46 h 98"/>
                <a:gd name="T14" fmla="*/ 63 w 99"/>
                <a:gd name="T15" fmla="*/ 38 h 98"/>
                <a:gd name="T16" fmla="*/ 59 w 99"/>
                <a:gd name="T17" fmla="*/ 30 h 98"/>
                <a:gd name="T18" fmla="*/ 49 w 99"/>
                <a:gd name="T19" fmla="*/ 22 h 98"/>
                <a:gd name="T20" fmla="*/ 49 w 99"/>
                <a:gd name="T21" fmla="*/ 22 h 98"/>
                <a:gd name="T22" fmla="*/ 63 w 99"/>
                <a:gd name="T23" fmla="*/ 23 h 98"/>
                <a:gd name="T24" fmla="*/ 72 w 99"/>
                <a:gd name="T25" fmla="*/ 37 h 98"/>
                <a:gd name="T26" fmla="*/ 66 w 99"/>
                <a:gd name="T27" fmla="*/ 48 h 98"/>
                <a:gd name="T28" fmla="*/ 59 w 99"/>
                <a:gd name="T29" fmla="*/ 51 h 98"/>
                <a:gd name="T30" fmla="*/ 68 w 99"/>
                <a:gd name="T31" fmla="*/ 56 h 98"/>
                <a:gd name="T32" fmla="*/ 71 w 99"/>
                <a:gd name="T33" fmla="*/ 64 h 98"/>
                <a:gd name="T34" fmla="*/ 71 w 99"/>
                <a:gd name="T35" fmla="*/ 68 h 98"/>
                <a:gd name="T36" fmla="*/ 71 w 99"/>
                <a:gd name="T37" fmla="*/ 72 h 98"/>
                <a:gd name="T38" fmla="*/ 72 w 99"/>
                <a:gd name="T39" fmla="*/ 75 h 98"/>
                <a:gd name="T40" fmla="*/ 72 w 99"/>
                <a:gd name="T41" fmla="*/ 76 h 98"/>
                <a:gd name="T42" fmla="*/ 63 w 99"/>
                <a:gd name="T43" fmla="*/ 76 h 98"/>
                <a:gd name="T44" fmla="*/ 63 w 99"/>
                <a:gd name="T45" fmla="*/ 75 h 98"/>
                <a:gd name="T46" fmla="*/ 63 w 99"/>
                <a:gd name="T47" fmla="*/ 75 h 98"/>
                <a:gd name="T48" fmla="*/ 62 w 99"/>
                <a:gd name="T49" fmla="*/ 73 h 98"/>
                <a:gd name="T50" fmla="*/ 62 w 99"/>
                <a:gd name="T51" fmla="*/ 69 h 98"/>
                <a:gd name="T52" fmla="*/ 57 w 99"/>
                <a:gd name="T53" fmla="*/ 56 h 98"/>
                <a:gd name="T54" fmla="*/ 47 w 99"/>
                <a:gd name="T55" fmla="*/ 54 h 98"/>
                <a:gd name="T56" fmla="*/ 39 w 99"/>
                <a:gd name="T57" fmla="*/ 54 h 98"/>
                <a:gd name="T58" fmla="*/ 39 w 99"/>
                <a:gd name="T59" fmla="*/ 76 h 98"/>
                <a:gd name="T60" fmla="*/ 30 w 99"/>
                <a:gd name="T61" fmla="*/ 76 h 98"/>
                <a:gd name="T62" fmla="*/ 30 w 99"/>
                <a:gd name="T63" fmla="*/ 22 h 98"/>
                <a:gd name="T64" fmla="*/ 49 w 99"/>
                <a:gd name="T65" fmla="*/ 22 h 98"/>
                <a:gd name="T66" fmla="*/ 49 w 99"/>
                <a:gd name="T67" fmla="*/ 22 h 98"/>
                <a:gd name="T68" fmla="*/ 20 w 99"/>
                <a:gd name="T69" fmla="*/ 19 h 98"/>
                <a:gd name="T70" fmla="*/ 20 w 99"/>
                <a:gd name="T71" fmla="*/ 19 h 98"/>
                <a:gd name="T72" fmla="*/ 7 w 99"/>
                <a:gd name="T73" fmla="*/ 49 h 98"/>
                <a:gd name="T74" fmla="*/ 20 w 99"/>
                <a:gd name="T75" fmla="*/ 79 h 98"/>
                <a:gd name="T76" fmla="*/ 50 w 99"/>
                <a:gd name="T77" fmla="*/ 92 h 98"/>
                <a:gd name="T78" fmla="*/ 80 w 99"/>
                <a:gd name="T79" fmla="*/ 79 h 98"/>
                <a:gd name="T80" fmla="*/ 92 w 99"/>
                <a:gd name="T81" fmla="*/ 49 h 98"/>
                <a:gd name="T82" fmla="*/ 80 w 99"/>
                <a:gd name="T83" fmla="*/ 19 h 98"/>
                <a:gd name="T84" fmla="*/ 50 w 99"/>
                <a:gd name="T85" fmla="*/ 6 h 98"/>
                <a:gd name="T86" fmla="*/ 20 w 99"/>
                <a:gd name="T87" fmla="*/ 19 h 98"/>
                <a:gd name="T88" fmla="*/ 85 w 99"/>
                <a:gd name="T89" fmla="*/ 84 h 98"/>
                <a:gd name="T90" fmla="*/ 85 w 99"/>
                <a:gd name="T91" fmla="*/ 84 h 98"/>
                <a:gd name="T92" fmla="*/ 50 w 99"/>
                <a:gd name="T93" fmla="*/ 98 h 98"/>
                <a:gd name="T94" fmla="*/ 15 w 99"/>
                <a:gd name="T95" fmla="*/ 84 h 98"/>
                <a:gd name="T96" fmla="*/ 0 w 99"/>
                <a:gd name="T97" fmla="*/ 49 h 98"/>
                <a:gd name="T98" fmla="*/ 15 w 99"/>
                <a:gd name="T99" fmla="*/ 14 h 98"/>
                <a:gd name="T100" fmla="*/ 50 w 99"/>
                <a:gd name="T101" fmla="*/ 0 h 98"/>
                <a:gd name="T102" fmla="*/ 85 w 99"/>
                <a:gd name="T103" fmla="*/ 14 h 98"/>
                <a:gd name="T104" fmla="*/ 99 w 99"/>
                <a:gd name="T105" fmla="*/ 49 h 98"/>
                <a:gd name="T106" fmla="*/ 85 w 99"/>
                <a:gd name="T107" fmla="*/ 8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98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Pretendard"/>
                <a:ea typeface="Pretendard"/>
              </a:endParaRPr>
            </a:p>
          </p:txBody>
        </p:sp>
      </p:grp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2D27525A-0A31-54D0-7C3E-93C517316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307271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/Tabl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>
            <a:extLst>
              <a:ext uri="{FF2B5EF4-FFF2-40B4-BE49-F238E27FC236}">
                <a16:creationId xmlns:a16="http://schemas.microsoft.com/office/drawing/2014/main" id="{AAA5D62D-F35E-D7FE-6596-5C9789C05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 algn="r"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71845180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2DD3D-B595-4C1C-9AA3-5D3F4218F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Pretendard"/>
                <a:ea typeface="Pretendard"/>
              </a:defRPr>
            </a:lvl1pPr>
          </a:lstStyle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D683BA-51BD-46D3-900C-96B554AB4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Pretendard"/>
                <a:ea typeface="Pretendard"/>
              </a:defRPr>
            </a:lvl1pPr>
            <a:lvl2pPr marL="457200" indent="0" algn="ctr">
              <a:buNone/>
              <a:defRPr sz="2000">
                <a:latin typeface="Pretendard"/>
                <a:ea typeface="Pretendard"/>
              </a:defRPr>
            </a:lvl2pPr>
            <a:lvl3pPr marL="914400" indent="0" algn="ctr">
              <a:buNone/>
              <a:defRPr sz="1800">
                <a:latin typeface="Pretendard"/>
                <a:ea typeface="Pretendard"/>
              </a:defRPr>
            </a:lvl3pPr>
            <a:lvl4pPr marL="1371600" indent="0" algn="ctr">
              <a:buNone/>
              <a:defRPr sz="1600">
                <a:latin typeface="Pretendard"/>
                <a:ea typeface="Pretendard"/>
              </a:defRPr>
            </a:lvl4pPr>
            <a:lvl5pPr marL="1828800" indent="0" algn="ctr">
              <a:buNone/>
              <a:defRPr sz="1600">
                <a:latin typeface="Pretendard"/>
                <a:ea typeface="Pretendard"/>
              </a:defRPr>
            </a:lvl5pPr>
            <a:lvl6pPr marL="2286000" indent="0" algn="ctr">
              <a:buNone/>
              <a:defRPr sz="1600">
                <a:latin typeface="Pretendard"/>
                <a:ea typeface="Pretendard"/>
              </a:defRPr>
            </a:lvl6pPr>
            <a:lvl7pPr marL="2743200" indent="0" algn="ctr">
              <a:buNone/>
              <a:defRPr sz="1600">
                <a:latin typeface="Pretendard"/>
                <a:ea typeface="Pretendard"/>
              </a:defRPr>
            </a:lvl7pPr>
            <a:lvl8pPr marL="3200400" indent="0" algn="ctr">
              <a:buNone/>
              <a:defRPr sz="1600">
                <a:latin typeface="Pretendard"/>
                <a:ea typeface="Pretendard"/>
              </a:defRPr>
            </a:lvl8pPr>
            <a:lvl9pPr marL="3657600" indent="0" algn="ctr">
              <a:buNone/>
              <a:defRPr sz="1600">
                <a:latin typeface="Pretendard"/>
                <a:ea typeface="Pretendard"/>
              </a:defRPr>
            </a:lvl9pPr>
          </a:lstStyle>
          <a:p>
            <a:r>
              <a:rPr lang="ko-KR" altLang="en-US">
                <a:latin typeface="Pretendard"/>
                <a:ea typeface="Pretendard"/>
              </a:rPr>
              <a:t>클릭하여 마스터 부제목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037A00-458C-DB4C-20A3-2A89E0FFE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74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 algn="r"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977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62C77B-DF28-4051-A2E3-ABFF11DD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59" y="0"/>
            <a:ext cx="10515600" cy="754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0D224-5600-42CF-8A3F-A3F90556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1721"/>
            <a:ext cx="10515600" cy="540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CAACC-95AC-47CF-8F0A-8D9A05945555}"/>
              </a:ext>
            </a:extLst>
          </p:cNvPr>
          <p:cNvSpPr/>
          <p:nvPr userDrawn="1"/>
        </p:nvSpPr>
        <p:spPr>
          <a:xfrm>
            <a:off x="-1" y="0"/>
            <a:ext cx="40990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D5233D-620A-46D6-8BB5-3F29F98748DE}"/>
              </a:ext>
            </a:extLst>
          </p:cNvPr>
          <p:cNvSpPr/>
          <p:nvPr userDrawn="1"/>
        </p:nvSpPr>
        <p:spPr>
          <a:xfrm>
            <a:off x="388056" y="754481"/>
            <a:ext cx="11803944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62443F-67A2-4292-92C0-0F5844407A90}"/>
              </a:ext>
            </a:extLst>
          </p:cNvPr>
          <p:cNvSpPr/>
          <p:nvPr userDrawn="1"/>
        </p:nvSpPr>
        <p:spPr>
          <a:xfrm>
            <a:off x="484715" y="0"/>
            <a:ext cx="45719" cy="1051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EB043-71DB-9F76-BBA9-0F47281AE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4" name="AccentLineBottom"/>
          <p:cNvSpPr/>
          <p:nvPr userDrawn="1"/>
        </p:nvSpPr>
        <p:spPr>
          <a:xfrm>
            <a:off x="57150" y="6750000"/>
            <a:ext cx="12143700" cy="19050"/>
          </a:xfrm>
          <a:prstGeom prst="rect">
            <a:avLst/>
          </a:prstGeom>
          <a:gradFill>
            <a:gsLst>
              <a:gs pos="0">
                <a:srgbClr val="3A86FF">
                  <a:alpha val="0"/>
                </a:srgbClr>
              </a:gs>
              <a:gs pos="30000">
                <a:srgbClr val="3A86FF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>
              <a:latin typeface="Pretendard"/>
              <a:ea typeface="Pretendard"/>
            </a:endParaRPr>
          </a:p>
        </p:txBody>
      </p:sp>
      <p:sp>
        <p:nvSpPr>
          <p:cNvPr id="15" name="AccentTriangle"/>
          <p:cNvSpPr/>
          <p:nvPr userDrawn="1"/>
        </p:nvSpPr>
        <p:spPr>
          <a:xfrm rot="10800000">
            <a:off x="10972800" y="0"/>
            <a:ext cx="1219200" cy="914400"/>
          </a:xfrm>
          <a:prstGeom prst="rtTriangle">
            <a:avLst/>
          </a:prstGeom>
          <a:solidFill>
            <a:srgbClr val="3A86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ko-KR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4574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rgbClr val="1B2A4A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rgbClr val="2C3E5A"/>
          </a:solidFill>
          <a:latin typeface="Pretendard"/>
          <a:ea typeface="Pretendard"/>
          <a:cs typeface="Pretendard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C3E5A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C3E5A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rgbClr val="2C3E5A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rgbClr val="2C3E5A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ko-KR">
          <a:latin typeface="Pretendard"/>
          <a:ea typeface="Pretendard"/>
        </a:defRPr>
      </a:defPPr>
      <a:lvl1pPr marL="0" algn="l" defTabSz="914400" rtl="0" eaLnBrk="1" latinLnBrk="1" hangingPunct="1">
        <a:defRPr sz="1800" kern="1200">
          <a:solidFill>
            <a:srgbClr val="7F8FA9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donchang0725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1524000" y="1586729"/>
            <a:ext cx="9144000" cy="21124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bg1"/>
                </a:solidFill>
                <a:latin typeface="Pretendard"/>
                <a:ea typeface="Pretendard"/>
              </a:rPr>
              <a:t>Nvidia</a:t>
            </a:r>
            <a:r>
              <a:rPr lang="ko-KR" altLang="en-US" sz="3600" b="1">
                <a:solidFill>
                  <a:schemeClr val="bg1"/>
                </a:solidFill>
                <a:latin typeface="Pretendard"/>
                <a:ea typeface="Pretendard"/>
              </a:rPr>
              <a:t>의</a:t>
            </a:r>
            <a:r>
              <a:rPr lang="en-US" altLang="ko-KR" sz="3600" b="1">
                <a:solidFill>
                  <a:schemeClr val="bg1"/>
                </a:solidFill>
                <a:latin typeface="Pretendard"/>
                <a:ea typeface="Pretendard"/>
              </a:rPr>
              <a:t> Physical AI</a:t>
            </a:r>
          </a:p>
          <a:p>
            <a:pPr algn="ctr"/>
            <a:endParaRPr lang="en-US" altLang="ko-KR" sz="3600" b="1">
              <a:solidFill>
                <a:schemeClr val="bg1"/>
              </a:solidFill>
              <a:latin typeface="Pretendard"/>
              <a:ea typeface="Pretendard"/>
            </a:endParaRPr>
          </a:p>
          <a:p>
            <a:pPr algn="ctr"/>
            <a:r>
              <a:rPr lang="ko-KR" altLang="en-US" b="1">
                <a:solidFill>
                  <a:schemeClr val="bg1"/>
                </a:solidFill>
                <a:latin typeface="Pretendard"/>
                <a:ea typeface="Pretendard"/>
              </a:rPr>
              <a:t>장동인</a:t>
            </a:r>
            <a:endParaRPr lang="en-US" altLang="ko-KR" b="1" dirty="0">
              <a:solidFill>
                <a:schemeClr val="bg1"/>
              </a:solidFill>
              <a:latin typeface="Pretendard"/>
              <a:ea typeface="Pretendard"/>
            </a:endParaRPr>
          </a:p>
          <a:p>
            <a:pPr algn="ctr"/>
            <a:r>
              <a:rPr lang="en-US" altLang="ko-KR" b="1">
                <a:solidFill>
                  <a:schemeClr val="bg1"/>
                </a:solidFill>
                <a:latin typeface="Pretendard"/>
                <a:ea typeface="Pretendard"/>
              </a:rPr>
              <a:t>KAIST</a:t>
            </a: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</a:rPr>
              <a:t> AI 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</a:rPr>
              <a:t>대학원 책임교수</a:t>
            </a: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</a:rPr>
              <a:t>/AIBB LAB 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</a:rPr>
              <a:t>대표</a:t>
            </a:r>
            <a:endParaRPr lang="en-US" altLang="ko-KR" b="1" dirty="0">
              <a:solidFill>
                <a:schemeClr val="bg1"/>
              </a:solidFill>
              <a:latin typeface="Pretendard"/>
              <a:ea typeface="Pretendar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3FF936-4C0F-29B9-86FB-8167594B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1</a:t>
            </a:fld>
            <a:endParaRPr lang="ko-KR" altLang="en-US" dirty="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150341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057400" y="152400"/>
            <a:ext cx="8915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endParaRPr lang="ko-KR" altLang="en-US" sz="1600" b="1" dirty="0">
              <a:solidFill>
                <a:srgbClr val="000066"/>
              </a:solidFill>
              <a:latin typeface="Pretendard"/>
              <a:ea typeface="Pretendard"/>
            </a:endParaRPr>
          </a:p>
        </p:txBody>
      </p:sp>
      <p:sp>
        <p:nvSpPr>
          <p:cNvPr id="12" name="AutoShape 72"/>
          <p:cNvSpPr>
            <a:spLocks noChangeArrowheads="1"/>
          </p:cNvSpPr>
          <p:nvPr/>
        </p:nvSpPr>
        <p:spPr bwMode="gray">
          <a:xfrm rot="5400000">
            <a:off x="2617054" y="-118224"/>
            <a:ext cx="246062" cy="24799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경력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1493398" y="1419491"/>
            <a:ext cx="4080412" cy="283923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,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KAIST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김재철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대학원 책임교수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(CAIO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과정 담당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, AiBB Lab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대표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(AI, Big Data, Blockchain)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연세대 의료 블록체인 고위과정 주임교수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국방과학연구소 빅데이터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/AI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과제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PM 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한국 </a:t>
            </a:r>
            <a:r>
              <a:rPr lang="ko-KR" altLang="en-US" sz="900" dirty="0" err="1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테라데이타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 부사장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미래읽기 컨설팅 대표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Ernst &amp; Young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컨설팅 본부장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Deloitte consulting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전무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(CRM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부문 파트너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  <a:endParaRPr lang="en-US" altLang="ko-KR" sz="900" dirty="0"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SAS Korea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Siebel Korea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초대 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Oracle Korea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컨설팅 본부 이사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Oracle HQ, Senior Principal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Germany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Amadeus, System Support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American Airline Information Service,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EDS, System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VISA International, Programmer</a:t>
            </a:r>
          </a:p>
        </p:txBody>
      </p:sp>
      <p:sp>
        <p:nvSpPr>
          <p:cNvPr id="15" name="AutoShape 78"/>
          <p:cNvSpPr>
            <a:spLocks noChangeArrowheads="1"/>
          </p:cNvSpPr>
          <p:nvPr/>
        </p:nvSpPr>
        <p:spPr bwMode="gray">
          <a:xfrm rot="5400000">
            <a:off x="7424682" y="-23581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전문분야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16" name="Text Box 82"/>
          <p:cNvSpPr txBox="1">
            <a:spLocks noChangeArrowheads="1"/>
          </p:cNvSpPr>
          <p:nvPr/>
        </p:nvSpPr>
        <p:spPr bwMode="auto">
          <a:xfrm>
            <a:off x="6486212" y="1419491"/>
            <a:ext cx="3921877" cy="69865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돈되는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AI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 도입과 활용을 위한 전략컨설팅</a:t>
            </a:r>
            <a:endParaRPr lang="en-US" altLang="ko-KR" sz="900">
              <a:solidFill>
                <a:srgbClr val="000000"/>
              </a:solidFill>
              <a:latin typeface="Pretendard" pitchFamily="50" charset="-127"/>
              <a:ea typeface="Pretendard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CEO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를 위한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실무자를 위한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10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벤처기업 고문</a:t>
            </a:r>
            <a:r>
              <a:rPr lang="en-US" altLang="ko-KR" sz="10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/Advisor</a:t>
            </a:r>
            <a:endParaRPr lang="en-US" altLang="ko-KR" sz="10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</p:txBody>
      </p:sp>
      <p:sp>
        <p:nvSpPr>
          <p:cNvPr id="17" name="AutoShape 78"/>
          <p:cNvSpPr>
            <a:spLocks noChangeArrowheads="1"/>
          </p:cNvSpPr>
          <p:nvPr/>
        </p:nvSpPr>
        <p:spPr bwMode="gray">
          <a:xfrm rot="5400000">
            <a:off x="7424681" y="1493837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저서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23" name="AutoShape 75"/>
          <p:cNvSpPr>
            <a:spLocks noChangeArrowheads="1"/>
          </p:cNvSpPr>
          <p:nvPr/>
        </p:nvSpPr>
        <p:spPr bwMode="gray">
          <a:xfrm rot="5400000">
            <a:off x="2618029" y="3875391"/>
            <a:ext cx="246063" cy="26252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800" b="1" dirty="0">
                <a:latin typeface="Pretendard" pitchFamily="50" charset="-127"/>
                <a:ea typeface="Pretendard" pitchFamily="50" charset="-127"/>
                <a:cs typeface="Pretendard" pitchFamily="18" charset="0"/>
              </a:rPr>
              <a:t>학력</a:t>
            </a:r>
            <a:endParaRPr lang="en-US" altLang="en-US" sz="800" b="1" dirty="0">
              <a:latin typeface="Pretendard" pitchFamily="50" charset="-127"/>
              <a:ea typeface="Pretendard" pitchFamily="50" charset="-127"/>
              <a:cs typeface="Pretendard" pitchFamily="18" charset="0"/>
            </a:endParaRPr>
          </a:p>
        </p:txBody>
      </p:sp>
      <p:sp>
        <p:nvSpPr>
          <p:cNvPr id="24" name="Text Box 76"/>
          <p:cNvSpPr txBox="1">
            <a:spLocks noChangeArrowheads="1"/>
          </p:cNvSpPr>
          <p:nvPr/>
        </p:nvSpPr>
        <p:spPr bwMode="auto">
          <a:xfrm>
            <a:off x="1493398" y="5460277"/>
            <a:ext cx="3741280" cy="67864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서울과학종합대학원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경영학박사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(Big Data)</a:t>
            </a: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University of Southern California,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컴퓨터 공학 석사 졸업</a:t>
            </a:r>
            <a:endParaRPr lang="en-US" altLang="ko-KR" sz="900" dirty="0"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서울 공대 원자핵 공학과 졸업</a:t>
            </a:r>
            <a:endParaRPr lang="en-US" altLang="ko-KR" sz="900" dirty="0">
              <a:latin typeface="Pretendard" pitchFamily="50" charset="-127"/>
              <a:ea typeface="Pretendard" pitchFamily="50" charset="-127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용산고등학교졸업</a:t>
            </a:r>
          </a:p>
        </p:txBody>
      </p:sp>
      <p:sp>
        <p:nvSpPr>
          <p:cNvPr id="25" name="AutoShape 78">
            <a:extLst>
              <a:ext uri="{FF2B5EF4-FFF2-40B4-BE49-F238E27FC236}">
                <a16:creationId xmlns:a16="http://schemas.microsoft.com/office/drawing/2014/main" id="{4647E93B-41E3-4819-9136-CA0E392C9BD6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7424680" y="363638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자격증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9128D67E-74FA-4CEB-960F-9166C6E528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07" y="5207560"/>
            <a:ext cx="1730341" cy="1327797"/>
          </a:xfrm>
          <a:prstGeom prst="rect">
            <a:avLst/>
          </a:prstGeom>
        </p:spPr>
      </p:pic>
      <p:sp>
        <p:nvSpPr>
          <p:cNvPr id="9" name="Text Box 82">
            <a:extLst>
              <a:ext uri="{FF2B5EF4-FFF2-40B4-BE49-F238E27FC236}">
                <a16:creationId xmlns:a16="http://schemas.microsoft.com/office/drawing/2014/main" id="{C1809002-A69A-46FB-B0B9-E40F3BD68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786" y="5655186"/>
            <a:ext cx="1993910" cy="76328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구글 텐서플로우</a:t>
            </a:r>
            <a:r>
              <a:rPr lang="en-US" altLang="ko-KR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(AI)</a:t>
            </a:r>
            <a:r>
              <a:rPr lang="ko-KR" altLang="en-US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개발자 자격증</a:t>
            </a:r>
            <a:endParaRPr lang="en-US" altLang="ko-KR" sz="8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2020.5.10 </a:t>
            </a:r>
            <a:r>
              <a:rPr lang="ko-KR" altLang="en-US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합격</a:t>
            </a:r>
            <a:endParaRPr lang="en-US" altLang="ko-KR" sz="8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endParaRPr lang="en-US" altLang="ko-KR" sz="8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연락처</a:t>
            </a: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: 010-5259-9509</a:t>
            </a: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donchang0725@gmail.com</a:t>
            </a:r>
            <a:endParaRPr lang="en-US" altLang="ko-KR" sz="9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367568EC-1F92-49C9-841E-AE80E25B604C}"/>
              </a:ext>
            </a:extLst>
          </p:cNvPr>
          <p:cNvSpPr txBox="1">
            <a:spLocks/>
          </p:cNvSpPr>
          <p:nvPr/>
        </p:nvSpPr>
        <p:spPr>
          <a:xfrm>
            <a:off x="1524000" y="2176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ctr"/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“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기업과 </a:t>
            </a:r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AI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를 아는 교수</a:t>
            </a:r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“ 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장 동 인</a:t>
            </a:r>
            <a:endParaRPr lang="ko-KR" altLang="en-US" sz="2400" b="1" dirty="0">
              <a:latin typeface="Pretendard" panose="020B0503020000020004" pitchFamily="50" charset="-127"/>
              <a:ea typeface="Pretendard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8F81D-0AAE-4B54-9BBB-2BF4C59261C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  <a:ea typeface="Pretendard"/>
            </a:endParaRPr>
          </a:p>
        </p:txBody>
      </p:sp>
      <p:pic>
        <p:nvPicPr>
          <p:cNvPr id="33" name="그림 32" descr="공피고아1.jpg">
            <a:extLst>
              <a:ext uri="{FF2B5EF4-FFF2-40B4-BE49-F238E27FC236}">
                <a16:creationId xmlns:a16="http://schemas.microsoft.com/office/drawing/2014/main" id="{06BE0365-8A99-4934-A48E-792DB7F1217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45927" y="3177657"/>
            <a:ext cx="840520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08BBA4B6-4987-42EF-8F13-727082EC2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41761" y="4503512"/>
            <a:ext cx="844686" cy="1113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D91DB7B-0B6E-4BCE-8A28-25F5A3865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28" y="3177657"/>
            <a:ext cx="754342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E56E2C6-7D19-4CC6-8C5A-6026070A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925" y="3177657"/>
            <a:ext cx="753146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47D50C41-8B8A-4099-A3F5-1A65377FE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60" y="3177657"/>
            <a:ext cx="822708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인간의 얼굴, 미소, 사람, 인물사진이(가) 표시된 사진&#10;&#10;자동 생성된 설명">
            <a:extLst>
              <a:ext uri="{FF2B5EF4-FFF2-40B4-BE49-F238E27FC236}">
                <a16:creationId xmlns:a16="http://schemas.microsoft.com/office/drawing/2014/main" id="{916139AB-DE78-F27F-1465-F180D60F9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721" y="-15308"/>
            <a:ext cx="1123763" cy="136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C9D496-F698-D5FB-4733-890FC25106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0802" y="3165430"/>
            <a:ext cx="767132" cy="1138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991447-524D-1E52-EF9A-8BFCDF20C0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195" y="3177657"/>
            <a:ext cx="847349" cy="111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4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69B82D-441F-0CBC-F1DE-2279BB703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1132" y="1662420"/>
            <a:ext cx="8610599" cy="424591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89851109-23CC-9E1C-56B5-433D6CA0003C}"/>
              </a:ext>
            </a:extLst>
          </p:cNvPr>
          <p:cNvSpPr txBox="1">
            <a:spLocks/>
          </p:cNvSpPr>
          <p:nvPr/>
        </p:nvSpPr>
        <p:spPr>
          <a:xfrm>
            <a:off x="2185987" y="2051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r>
              <a:rPr lang="ko-KR" altLang="en-US" sz="2400" b="1" dirty="0">
                <a:latin typeface="Pretendard" panose="020B0503020000020004" pitchFamily="50" charset="-127"/>
                <a:ea typeface="Pretendard"/>
              </a:rPr>
              <a:t>너무나 빠르게 바뀌는 변혁의 시대 </a:t>
            </a:r>
            <a:r>
              <a:rPr lang="en-US" altLang="ko-KR" sz="2400" b="1" dirty="0">
                <a:latin typeface="Pretendard" panose="020B0503020000020004" pitchFamily="50" charset="-127"/>
                <a:ea typeface="Pretendard"/>
              </a:rPr>
              <a:t>– Technical Leadership</a:t>
            </a:r>
            <a:endParaRPr lang="ko-KR" altLang="en-US" sz="2400" b="1" dirty="0">
              <a:latin typeface="Pretendard" panose="020B0503020000020004" pitchFamily="50" charset="-127"/>
              <a:ea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ADF2A-9F42-D4ED-2B24-CF8629CA68D4}"/>
              </a:ext>
            </a:extLst>
          </p:cNvPr>
          <p:cNvSpPr txBox="1"/>
          <p:nvPr/>
        </p:nvSpPr>
        <p:spPr>
          <a:xfrm>
            <a:off x="1485771" y="977709"/>
            <a:ext cx="889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/>
                <a:ea typeface="Pretendard"/>
              </a:rPr>
              <a:t>젠슨 </a:t>
            </a:r>
            <a:r>
              <a:rPr lang="ko-KR" altLang="en-US">
                <a:latin typeface="Pretendard"/>
                <a:ea typeface="Pretendard"/>
              </a:rPr>
              <a:t>황의 </a:t>
            </a:r>
            <a:r>
              <a:rPr lang="en-US" altLang="ko-KR">
                <a:latin typeface="Pretendard"/>
                <a:ea typeface="Pretendard"/>
              </a:rPr>
              <a:t>GTC2026 </a:t>
            </a:r>
            <a:r>
              <a:rPr lang="ko-KR" altLang="en-US" dirty="0">
                <a:latin typeface="Pretendard"/>
                <a:ea typeface="Pretendard"/>
              </a:rPr>
              <a:t>키노트 </a:t>
            </a:r>
            <a:r>
              <a:rPr lang="en-US" altLang="ko-KR" dirty="0">
                <a:latin typeface="Pretendard"/>
                <a:ea typeface="Pretendard"/>
              </a:rPr>
              <a:t>: 1</a:t>
            </a:r>
            <a:r>
              <a:rPr lang="ko-KR" altLang="en-US" dirty="0">
                <a:latin typeface="Pretendard"/>
                <a:ea typeface="Pretendard"/>
              </a:rPr>
              <a:t>시간</a:t>
            </a:r>
            <a:r>
              <a:rPr lang="en-US" altLang="ko-KR" dirty="0">
                <a:latin typeface="Pretendard"/>
                <a:ea typeface="Pretendard"/>
              </a:rPr>
              <a:t>30</a:t>
            </a:r>
            <a:r>
              <a:rPr lang="ko-KR" altLang="en-US" dirty="0">
                <a:latin typeface="Pretendard"/>
                <a:ea typeface="Pretendard"/>
              </a:rPr>
              <a:t>분 동안 </a:t>
            </a:r>
            <a:r>
              <a:rPr lang="en-US" altLang="ko-KR" dirty="0">
                <a:latin typeface="Pretendard"/>
                <a:ea typeface="Pretendard"/>
              </a:rPr>
              <a:t>Nvidia</a:t>
            </a:r>
            <a:r>
              <a:rPr lang="ko-KR" altLang="en-US" dirty="0">
                <a:latin typeface="Pretendard"/>
                <a:ea typeface="Pretendard"/>
              </a:rPr>
              <a:t>의 제품과 기술에 대한 설명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ACD7-B5A2-6E98-3147-33C4FA1D6167}"/>
              </a:ext>
            </a:extLst>
          </p:cNvPr>
          <p:cNvSpPr txBox="1"/>
          <p:nvPr/>
        </p:nvSpPr>
        <p:spPr>
          <a:xfrm>
            <a:off x="1449151" y="6129650"/>
            <a:ext cx="8972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"/>
                <a:ea typeface="Pretendard"/>
              </a:rPr>
              <a:t>“</a:t>
            </a:r>
            <a:r>
              <a:rPr lang="ko-KR" altLang="en-US" sz="1400" dirty="0">
                <a:latin typeface="Pretendard"/>
                <a:ea typeface="Pretendard"/>
              </a:rPr>
              <a:t>이 세상에는 컴퓨터 칩을 만드는 회사가 수천개가 넘는데</a:t>
            </a:r>
            <a:r>
              <a:rPr lang="en-US" altLang="ko-KR" sz="1400" dirty="0">
                <a:latin typeface="Pretendard"/>
                <a:ea typeface="Pretendard"/>
              </a:rPr>
              <a:t>, </a:t>
            </a:r>
            <a:r>
              <a:rPr lang="ko-KR" altLang="en-US" sz="1400" dirty="0">
                <a:latin typeface="Pretendard"/>
                <a:ea typeface="Pretendard"/>
              </a:rPr>
              <a:t>왜 </a:t>
            </a:r>
            <a:r>
              <a:rPr lang="en-US" altLang="ko-KR" sz="1400" dirty="0">
                <a:latin typeface="Pretendard"/>
                <a:ea typeface="Pretendard"/>
              </a:rPr>
              <a:t>Nvidia </a:t>
            </a:r>
            <a:r>
              <a:rPr lang="ko-KR" altLang="en-US" sz="1400" dirty="0">
                <a:latin typeface="Pretendard"/>
                <a:ea typeface="Pretendard"/>
              </a:rPr>
              <a:t>보다 빠르고 싼 </a:t>
            </a:r>
            <a:r>
              <a:rPr lang="en-US" altLang="ko-KR" sz="1400" dirty="0">
                <a:latin typeface="Pretendard"/>
                <a:ea typeface="Pretendard"/>
              </a:rPr>
              <a:t>GPU</a:t>
            </a:r>
            <a:r>
              <a:rPr lang="ko-KR" altLang="en-US" sz="1400" dirty="0">
                <a:latin typeface="Pretendard"/>
                <a:ea typeface="Pretendard"/>
              </a:rPr>
              <a:t>를 못 만드는 걸까</a:t>
            </a:r>
            <a:r>
              <a:rPr lang="en-US" altLang="ko-KR" sz="1400" dirty="0">
                <a:latin typeface="Pretendard"/>
                <a:ea typeface="Pretendard"/>
              </a:rPr>
              <a:t>?</a:t>
            </a:r>
          </a:p>
          <a:p>
            <a:r>
              <a:rPr lang="ko-KR" altLang="en-US" sz="1400">
                <a:latin typeface="Pretendard"/>
                <a:ea typeface="Pretendard"/>
              </a:rPr>
              <a:t>시총 </a:t>
            </a:r>
            <a:r>
              <a:rPr lang="en-US" altLang="ko-KR" sz="1400">
                <a:latin typeface="Pretendard"/>
                <a:ea typeface="Pretendard"/>
              </a:rPr>
              <a:t>6600</a:t>
            </a:r>
            <a:r>
              <a:rPr lang="ko-KR" altLang="en-US" sz="1400">
                <a:latin typeface="Pretendard"/>
                <a:ea typeface="Pretendard"/>
              </a:rPr>
              <a:t>조</a:t>
            </a:r>
            <a:r>
              <a:rPr lang="en-US" altLang="ko-KR" sz="1400">
                <a:latin typeface="Pretendard"/>
                <a:ea typeface="Pretendard"/>
              </a:rPr>
              <a:t>(</a:t>
            </a:r>
            <a:r>
              <a:rPr lang="ko-KR" altLang="en-US" sz="1400">
                <a:latin typeface="Pretendard"/>
                <a:ea typeface="Pretendard"/>
              </a:rPr>
              <a:t>삼성전자 </a:t>
            </a:r>
            <a:r>
              <a:rPr lang="en-US" altLang="ko-KR" sz="1400">
                <a:latin typeface="Pretendard"/>
                <a:ea typeface="Pretendard"/>
              </a:rPr>
              <a:t>1000</a:t>
            </a:r>
            <a:r>
              <a:rPr lang="ko-KR" altLang="en-US" sz="1400">
                <a:latin typeface="Pretendard"/>
                <a:ea typeface="Pretendard"/>
              </a:rPr>
              <a:t>조</a:t>
            </a:r>
            <a:r>
              <a:rPr lang="en-US" altLang="ko-KR" sz="1400">
                <a:latin typeface="Pretendard"/>
                <a:ea typeface="Pretendard"/>
              </a:rPr>
              <a:t>)</a:t>
            </a:r>
            <a:r>
              <a:rPr lang="ko-KR" altLang="en-US" sz="1400">
                <a:latin typeface="Pretendard"/>
                <a:ea typeface="Pretendard"/>
              </a:rPr>
              <a:t> </a:t>
            </a:r>
            <a:r>
              <a:rPr lang="ko-KR" altLang="en-US" sz="1400" dirty="0">
                <a:latin typeface="Pretendard"/>
                <a:ea typeface="Pretendard"/>
              </a:rPr>
              <a:t>기업의 의사결정</a:t>
            </a:r>
            <a:r>
              <a:rPr lang="en-US" altLang="ko-KR" sz="1400" dirty="0">
                <a:latin typeface="Pretendard"/>
                <a:ea typeface="Pretendard"/>
              </a:rPr>
              <a:t>! </a:t>
            </a:r>
            <a:r>
              <a:rPr lang="en-US" altLang="ko-KR" sz="1400" dirty="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Pretendard"/>
                <a:ea typeface="Pretendard"/>
              </a:rPr>
              <a:t>Nvidia</a:t>
            </a:r>
            <a:r>
              <a:rPr lang="ko-KR" altLang="en-US" sz="1400" dirty="0">
                <a:latin typeface="Pretendard"/>
                <a:ea typeface="Pretendard"/>
              </a:rPr>
              <a:t>의 경쟁력의 원천은 무엇인가</a:t>
            </a:r>
            <a:r>
              <a:rPr lang="en-US" altLang="ko-KR" sz="1400" dirty="0">
                <a:latin typeface="Pretendard"/>
                <a:ea typeface="Pretendard"/>
              </a:rPr>
              <a:t>?</a:t>
            </a:r>
            <a:endParaRPr lang="ko-KR" altLang="en-US" dirty="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3308092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B142E7-4739-B995-8AA1-A566140BE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4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D4CC728-AED3-4731-E59F-179B3724D886}"/>
              </a:ext>
            </a:extLst>
          </p:cNvPr>
          <p:cNvSpPr txBox="1">
            <a:spLocks/>
          </p:cNvSpPr>
          <p:nvPr/>
        </p:nvSpPr>
        <p:spPr>
          <a:xfrm>
            <a:off x="1408809" y="2051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lang="en-US" altLang="ko-KR" sz="2400" b="1" dirty="0">
                <a:latin typeface="Pretendard" panose="020B0503020000020004" pitchFamily="50" charset="-127"/>
                <a:ea typeface="Pretendard"/>
              </a:rPr>
              <a:t>AI</a:t>
            </a:r>
            <a:r>
              <a:rPr lang="ko-KR" altLang="en-US" sz="2400" b="1">
                <a:latin typeface="Pretendard" panose="020B0503020000020004" pitchFamily="50" charset="-127"/>
                <a:ea typeface="Pretendard"/>
              </a:rPr>
              <a:t>의 변곡점에서 </a:t>
            </a:r>
            <a:r>
              <a:rPr lang="ko-KR" altLang="en-US" sz="2400" b="1" dirty="0">
                <a:latin typeface="Pretendard" panose="020B0503020000020004" pitchFamily="50" charset="-127"/>
                <a:ea typeface="Pretendard"/>
              </a:rPr>
              <a:t>했던 </a:t>
            </a:r>
            <a:r>
              <a:rPr lang="en-US" altLang="ko-KR" sz="2400" b="1" dirty="0">
                <a:latin typeface="Pretendard" panose="020B0503020000020004" pitchFamily="50" charset="-127"/>
                <a:ea typeface="Pretendard"/>
              </a:rPr>
              <a:t>Nvidia</a:t>
            </a:r>
            <a:r>
              <a:rPr lang="ko-KR" altLang="en-US" sz="2400" b="1" dirty="0">
                <a:latin typeface="Pretendard" panose="020B0503020000020004" pitchFamily="50" charset="-127"/>
                <a:ea typeface="Pretendard"/>
              </a:rPr>
              <a:t> </a:t>
            </a:r>
            <a:r>
              <a:rPr lang="en-US" altLang="ko-KR" sz="2400" b="1" dirty="0">
                <a:latin typeface="Pretendard" panose="020B0503020000020004" pitchFamily="50" charset="-127"/>
                <a:ea typeface="Pretendard"/>
              </a:rPr>
              <a:t>Decisions </a:t>
            </a:r>
            <a:endParaRPr lang="ko-KR" altLang="en-US" sz="2400" b="1" dirty="0">
              <a:latin typeface="Pretendard" panose="020B0503020000020004" pitchFamily="50" charset="-127"/>
              <a:ea typeface="Pretendard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DC3F775-203A-2D1C-DED1-A9BE1E40EC10}"/>
              </a:ext>
            </a:extLst>
          </p:cNvPr>
          <p:cNvGrpSpPr/>
          <p:nvPr/>
        </p:nvGrpSpPr>
        <p:grpSpPr>
          <a:xfrm>
            <a:off x="1206616" y="1592771"/>
            <a:ext cx="10104120" cy="5165477"/>
            <a:chOff x="1285949" y="1859511"/>
            <a:chExt cx="10104120" cy="516547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D54FA70-AFAB-59FE-FA2A-E477B7843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8903" y="2065151"/>
              <a:ext cx="8980286" cy="454301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424095-9F93-BD96-9A4F-A49E933380C8}"/>
                </a:ext>
              </a:extLst>
            </p:cNvPr>
            <p:cNvSpPr txBox="1"/>
            <p:nvPr/>
          </p:nvSpPr>
          <p:spPr>
            <a:xfrm>
              <a:off x="4427529" y="4538236"/>
              <a:ext cx="6628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CUDA</a:t>
              </a:r>
            </a:p>
            <a:p>
              <a:r>
                <a:rPr lang="en-US" altLang="ko-KR" sz="1000" b="1" dirty="0">
                  <a:latin typeface="Pretendard"/>
                  <a:ea typeface="Pretendard"/>
                </a:rPr>
                <a:t>2006</a:t>
              </a:r>
            </a:p>
          </p:txBody>
        </p: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114193F4-2490-0098-42FD-6E3FCD689F94}"/>
                </a:ext>
              </a:extLst>
            </p:cNvPr>
            <p:cNvSpPr/>
            <p:nvPr/>
          </p:nvSpPr>
          <p:spPr>
            <a:xfrm>
              <a:off x="4671768" y="5046745"/>
              <a:ext cx="95832" cy="11180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508B37-B091-FB42-456A-0D1E1A5A155E}"/>
                </a:ext>
              </a:extLst>
            </p:cNvPr>
            <p:cNvSpPr txBox="1"/>
            <p:nvPr/>
          </p:nvSpPr>
          <p:spPr>
            <a:xfrm>
              <a:off x="5562209" y="4510873"/>
              <a:ext cx="7267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AlexNet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GTX-580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2012</a:t>
              </a:r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1400385B-7EB0-696B-6D09-1DF4C945E313}"/>
                </a:ext>
              </a:extLst>
            </p:cNvPr>
            <p:cNvSpPr/>
            <p:nvPr/>
          </p:nvSpPr>
          <p:spPr>
            <a:xfrm>
              <a:off x="5806449" y="5079277"/>
              <a:ext cx="95832" cy="11180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2B4759-CDC4-2B6F-D49F-402DAA48AF34}"/>
                </a:ext>
              </a:extLst>
            </p:cNvPr>
            <p:cNvSpPr txBox="1"/>
            <p:nvPr/>
          </p:nvSpPr>
          <p:spPr>
            <a:xfrm>
              <a:off x="7727751" y="4516474"/>
              <a:ext cx="78263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Mellanox</a:t>
              </a:r>
            </a:p>
            <a:p>
              <a:pPr algn="l"/>
              <a:r>
                <a:rPr lang="ko-KR" altLang="en-US" sz="1000" b="1" dirty="0">
                  <a:latin typeface="Pretendard"/>
                  <a:ea typeface="Pretendard"/>
                </a:rPr>
                <a:t>인수</a:t>
              </a:r>
              <a:endParaRPr lang="en-US" altLang="ko-KR" sz="1000" b="1" dirty="0">
                <a:latin typeface="Pretendard"/>
                <a:ea typeface="Pretendard"/>
              </a:endParaRP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2019</a:t>
              </a:r>
            </a:p>
          </p:txBody>
        </p:sp>
        <p:sp>
          <p:nvSpPr>
            <p:cNvPr id="11" name="화살표: 아래쪽 10">
              <a:extLst>
                <a:ext uri="{FF2B5EF4-FFF2-40B4-BE49-F238E27FC236}">
                  <a16:creationId xmlns:a16="http://schemas.microsoft.com/office/drawing/2014/main" id="{22553042-8BA4-71DE-E80B-3EDEFCB1ACB8}"/>
                </a:ext>
              </a:extLst>
            </p:cNvPr>
            <p:cNvSpPr/>
            <p:nvPr/>
          </p:nvSpPr>
          <p:spPr>
            <a:xfrm>
              <a:off x="8023237" y="5052891"/>
              <a:ext cx="95832" cy="11180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AC20DE-334F-D366-D679-9C7F8574C896}"/>
                </a:ext>
              </a:extLst>
            </p:cNvPr>
            <p:cNvSpPr txBox="1"/>
            <p:nvPr/>
          </p:nvSpPr>
          <p:spPr>
            <a:xfrm>
              <a:off x="8435012" y="3999181"/>
              <a:ext cx="10601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Pandemic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GPT-3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Cloud Center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2020</a:t>
              </a:r>
            </a:p>
          </p:txBody>
        </p:sp>
        <p:sp>
          <p:nvSpPr>
            <p:cNvPr id="13" name="화살표: 아래쪽 12">
              <a:extLst>
                <a:ext uri="{FF2B5EF4-FFF2-40B4-BE49-F238E27FC236}">
                  <a16:creationId xmlns:a16="http://schemas.microsoft.com/office/drawing/2014/main" id="{6197A37E-532D-2FB6-257B-2135AD5E67B4}"/>
                </a:ext>
              </a:extLst>
            </p:cNvPr>
            <p:cNvSpPr/>
            <p:nvPr/>
          </p:nvSpPr>
          <p:spPr>
            <a:xfrm>
              <a:off x="8590909" y="4744885"/>
              <a:ext cx="95832" cy="11180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A39DD5AC-7B2B-0E9E-292B-6EA7FF6E13A8}"/>
                </a:ext>
              </a:extLst>
            </p:cNvPr>
            <p:cNvSpPr/>
            <p:nvPr/>
          </p:nvSpPr>
          <p:spPr>
            <a:xfrm>
              <a:off x="7248260" y="3617251"/>
              <a:ext cx="95832" cy="11180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C0EFD8-5B06-A46B-EA80-1A37E35BD61B}"/>
                </a:ext>
              </a:extLst>
            </p:cNvPr>
            <p:cNvSpPr txBox="1"/>
            <p:nvPr/>
          </p:nvSpPr>
          <p:spPr>
            <a:xfrm>
              <a:off x="7111491" y="3764260"/>
              <a:ext cx="662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Tensor Core</a:t>
              </a:r>
            </a:p>
            <a:p>
              <a:r>
                <a:rPr lang="en-US" altLang="ko-KR" sz="1000" b="1" dirty="0">
                  <a:latin typeface="Pretendard"/>
                  <a:ea typeface="Pretendard"/>
                </a:rPr>
                <a:t>2017</a:t>
              </a:r>
            </a:p>
          </p:txBody>
        </p:sp>
        <p:sp>
          <p:nvSpPr>
            <p:cNvPr id="17" name="화살표: 아래쪽 16">
              <a:extLst>
                <a:ext uri="{FF2B5EF4-FFF2-40B4-BE49-F238E27FC236}">
                  <a16:creationId xmlns:a16="http://schemas.microsoft.com/office/drawing/2014/main" id="{789074F1-F0CC-4664-1D7D-B9FC39605080}"/>
                </a:ext>
              </a:extLst>
            </p:cNvPr>
            <p:cNvSpPr/>
            <p:nvPr/>
          </p:nvSpPr>
          <p:spPr>
            <a:xfrm>
              <a:off x="7355730" y="4336657"/>
              <a:ext cx="95832" cy="11180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AD2071-CB13-CC84-0152-367C3EEF61A9}"/>
                </a:ext>
              </a:extLst>
            </p:cNvPr>
            <p:cNvSpPr txBox="1"/>
            <p:nvPr/>
          </p:nvSpPr>
          <p:spPr>
            <a:xfrm>
              <a:off x="6972388" y="2977424"/>
              <a:ext cx="96964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Transformer 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LLM</a:t>
              </a:r>
              <a:r>
                <a:rPr lang="ko-KR" altLang="en-US" sz="1000" b="1" dirty="0">
                  <a:latin typeface="Pretendard"/>
                  <a:ea typeface="Pretendard"/>
                </a:rPr>
                <a:t>시작</a:t>
              </a:r>
              <a:endParaRPr lang="en-US" altLang="ko-KR" sz="1000" b="1" dirty="0">
                <a:latin typeface="Pretendard"/>
                <a:ea typeface="Pretendard"/>
              </a:endParaRPr>
            </a:p>
            <a:p>
              <a:r>
                <a:rPr lang="en-US" altLang="ko-KR" sz="1000" b="1" dirty="0">
                  <a:latin typeface="Pretendard"/>
                  <a:ea typeface="Pretendard"/>
                </a:rPr>
                <a:t>2017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1D9752-CE48-345E-3F13-D313728D47BD}"/>
                </a:ext>
              </a:extLst>
            </p:cNvPr>
            <p:cNvSpPr txBox="1"/>
            <p:nvPr/>
          </p:nvSpPr>
          <p:spPr>
            <a:xfrm>
              <a:off x="9006844" y="3507603"/>
              <a:ext cx="782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ChatGPT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2022</a:t>
              </a:r>
            </a:p>
          </p:txBody>
        </p:sp>
        <p:sp>
          <p:nvSpPr>
            <p:cNvPr id="20" name="화살표: 아래쪽 19">
              <a:extLst>
                <a:ext uri="{FF2B5EF4-FFF2-40B4-BE49-F238E27FC236}">
                  <a16:creationId xmlns:a16="http://schemas.microsoft.com/office/drawing/2014/main" id="{1BD3A12E-60CD-3F9B-1F52-1B412092FBF6}"/>
                </a:ext>
              </a:extLst>
            </p:cNvPr>
            <p:cNvSpPr/>
            <p:nvPr/>
          </p:nvSpPr>
          <p:spPr>
            <a:xfrm>
              <a:off x="9302329" y="4074727"/>
              <a:ext cx="95832" cy="11180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BC0550-7546-4665-7B2E-08E4AC8B59A4}"/>
                </a:ext>
              </a:extLst>
            </p:cNvPr>
            <p:cNvSpPr txBox="1"/>
            <p:nvPr/>
          </p:nvSpPr>
          <p:spPr>
            <a:xfrm>
              <a:off x="9658369" y="2837445"/>
              <a:ext cx="782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>
                  <a:latin typeface="Pretendard"/>
                  <a:ea typeface="Pretendard"/>
                </a:rPr>
                <a:t>DeepSeek</a:t>
              </a:r>
              <a:endParaRPr lang="en-US" altLang="ko-KR" sz="1000" b="1" dirty="0">
                <a:latin typeface="Pretendard"/>
                <a:ea typeface="Pretendard"/>
              </a:endParaRP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2025.1</a:t>
              </a: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68A0D26E-2C58-989F-A505-7B9BC20EB9FB}"/>
                </a:ext>
              </a:extLst>
            </p:cNvPr>
            <p:cNvSpPr/>
            <p:nvPr/>
          </p:nvSpPr>
          <p:spPr>
            <a:xfrm>
              <a:off x="10109583" y="3291241"/>
              <a:ext cx="95832" cy="11180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309E80-30C5-2275-84EF-DE7CE988EA7A}"/>
                </a:ext>
              </a:extLst>
            </p:cNvPr>
            <p:cNvSpPr txBox="1"/>
            <p:nvPr/>
          </p:nvSpPr>
          <p:spPr>
            <a:xfrm>
              <a:off x="9886625" y="1859511"/>
              <a:ext cx="14295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Physical AI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Cosmos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Test-Time Compute</a:t>
              </a:r>
            </a:p>
            <a:p>
              <a:r>
                <a:rPr lang="en-US" altLang="ko-KR" sz="1000" b="1" dirty="0">
                  <a:latin typeface="Pretendard"/>
                  <a:ea typeface="Pretendard"/>
                </a:rPr>
                <a:t>2025.3</a:t>
              </a:r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EA2C3694-6B81-97DA-6894-23A3794BBAE1}"/>
                </a:ext>
              </a:extLst>
            </p:cNvPr>
            <p:cNvSpPr/>
            <p:nvPr/>
          </p:nvSpPr>
          <p:spPr>
            <a:xfrm>
              <a:off x="10146837" y="2603695"/>
              <a:ext cx="95832" cy="11180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EE96AB-071F-C27A-9A45-94A73E030B4E}"/>
                </a:ext>
              </a:extLst>
            </p:cNvPr>
            <p:cNvSpPr txBox="1"/>
            <p:nvPr/>
          </p:nvSpPr>
          <p:spPr>
            <a:xfrm>
              <a:off x="6592401" y="4407133"/>
              <a:ext cx="6628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DGX-1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P100</a:t>
              </a:r>
            </a:p>
            <a:p>
              <a:pPr algn="l"/>
              <a:r>
                <a:rPr lang="en-US" altLang="ko-KR" sz="1000" b="1" dirty="0">
                  <a:latin typeface="Pretendard"/>
                  <a:ea typeface="Pretendard"/>
                </a:rPr>
                <a:t>MVLink</a:t>
              </a:r>
            </a:p>
            <a:p>
              <a:r>
                <a:rPr lang="en-US" altLang="ko-KR" sz="1000" b="1" dirty="0">
                  <a:latin typeface="Pretendard"/>
                  <a:ea typeface="Pretendard"/>
                </a:rPr>
                <a:t>2016</a:t>
              </a:r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E5EC479A-A37C-02DE-AFA4-3A54463B8B56}"/>
                </a:ext>
              </a:extLst>
            </p:cNvPr>
            <p:cNvSpPr/>
            <p:nvPr/>
          </p:nvSpPr>
          <p:spPr>
            <a:xfrm>
              <a:off x="7133121" y="5177703"/>
              <a:ext cx="95832" cy="11180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AD963EE-CD96-407E-7090-989CA8BFD9BC}"/>
                </a:ext>
              </a:extLst>
            </p:cNvPr>
            <p:cNvSpPr/>
            <p:nvPr/>
          </p:nvSpPr>
          <p:spPr>
            <a:xfrm>
              <a:off x="1285949" y="5623419"/>
              <a:ext cx="10104120" cy="1401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"/>
                <a:ea typeface="Pretendard"/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8C26CD1-0C38-4826-C555-F27BEBAB8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7731" y="5463824"/>
              <a:ext cx="8807334" cy="282499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7955A3D-40A9-0908-8754-57BE25375DDF}"/>
              </a:ext>
            </a:extLst>
          </p:cNvPr>
          <p:cNvSpPr txBox="1"/>
          <p:nvPr/>
        </p:nvSpPr>
        <p:spPr>
          <a:xfrm>
            <a:off x="843857" y="967061"/>
            <a:ext cx="7916803" cy="132343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</a:rPr>
              <a:t>2006 CUDA 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 2012. AlexNet 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사용</a:t>
            </a:r>
            <a:endParaRPr lang="en-US" altLang="ko-KR" sz="1600" dirty="0">
              <a:latin typeface="Pretendard"/>
              <a:ea typeface="Pretendard"/>
              <a:sym typeface="Wingdings" panose="05000000000000000000" pitchFamily="2" charset="2"/>
            </a:endParaRPr>
          </a:p>
          <a:p>
            <a:pPr marL="228600" indent="-228600" algn="l">
              <a:buAutoNum type="arabicPeriod"/>
            </a:pP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2016 DGX, P100, MVLink 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딥러닝 서버</a:t>
            </a:r>
            <a:endParaRPr lang="en-US" altLang="ko-KR" sz="1600" dirty="0">
              <a:latin typeface="Pretendard"/>
              <a:ea typeface="Pretendard"/>
              <a:sym typeface="Wingdings" panose="05000000000000000000" pitchFamily="2" charset="2"/>
            </a:endParaRPr>
          </a:p>
          <a:p>
            <a:pPr marL="228600" indent="-228600" algn="l">
              <a:buAutoNum type="arabicPeriod"/>
            </a:pP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2017 Transformer  </a:t>
            </a: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Tensor Core (Transformer </a:t>
            </a:r>
            <a:r>
              <a:rPr lang="ko-KR" altLang="en-US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전용</a:t>
            </a: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) 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 GPT1,2,3, LLM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시대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독점</a:t>
            </a:r>
            <a:endParaRPr lang="en-US" altLang="ko-KR" sz="1600" dirty="0">
              <a:latin typeface="Pretendard"/>
              <a:ea typeface="Pretendard"/>
              <a:sym typeface="Wingdings" panose="05000000000000000000" pitchFamily="2" charset="2"/>
            </a:endParaRPr>
          </a:p>
          <a:p>
            <a:pPr marL="228600" indent="-228600" algn="l">
              <a:buAutoNum type="arabicPeriod"/>
            </a:pP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2019 Cloud Center solution Mellanox </a:t>
            </a:r>
            <a:r>
              <a:rPr lang="ko-KR" altLang="en-US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인수 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 GPT3, 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팬데믹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, ChatGPT</a:t>
            </a:r>
          </a:p>
          <a:p>
            <a:pPr marL="228600" indent="-228600" algn="l">
              <a:buAutoNum type="arabicPeriod"/>
            </a:pP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2025.1 Deepseek </a:t>
            </a:r>
            <a:r>
              <a:rPr lang="ko-KR" altLang="en-US" sz="1600" dirty="0">
                <a:latin typeface="Pretendard"/>
                <a:ea typeface="Pretendard"/>
                <a:sym typeface="Wingdings" panose="05000000000000000000" pitchFamily="2" charset="2"/>
              </a:rPr>
              <a:t>충격 </a:t>
            </a:r>
            <a:r>
              <a:rPr lang="en-US" altLang="ko-KR" sz="1600" dirty="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highlight>
                  <a:srgbClr val="00FFFF"/>
                </a:highlight>
                <a:latin typeface="Pretendard"/>
                <a:ea typeface="Pretendard"/>
                <a:sym typeface="Wingdings" panose="05000000000000000000" pitchFamily="2" charset="2"/>
              </a:rPr>
              <a:t>2025.3 Physical AI, Cosmos, Test-time Compute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AF5A2-44FB-9E27-0ED5-84B390966011}"/>
              </a:ext>
            </a:extLst>
          </p:cNvPr>
          <p:cNvSpPr txBox="1"/>
          <p:nvPr/>
        </p:nvSpPr>
        <p:spPr>
          <a:xfrm>
            <a:off x="1552144" y="5993845"/>
            <a:ext cx="1010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Pretendard"/>
                <a:ea typeface="Pretendard"/>
              </a:rPr>
              <a:t>Nvidia</a:t>
            </a:r>
            <a:r>
              <a:rPr lang="ko-KR" altLang="en-US" sz="1200" b="1" dirty="0">
                <a:latin typeface="Pretendard"/>
                <a:ea typeface="Pretendard"/>
              </a:rPr>
              <a:t>의 젠슨 황은 ‘</a:t>
            </a:r>
            <a:r>
              <a:rPr lang="en-US" altLang="ko-KR" sz="1200" b="1" dirty="0">
                <a:latin typeface="Pretendard"/>
                <a:ea typeface="Pretendard"/>
              </a:rPr>
              <a:t>AI </a:t>
            </a:r>
            <a:r>
              <a:rPr lang="ko-KR" altLang="en-US" sz="1200" b="1" dirty="0">
                <a:latin typeface="Pretendard"/>
                <a:ea typeface="Pretendard"/>
              </a:rPr>
              <a:t>산업혁명’이라는 역사적 서사를 판매하는 탁월한 스토리 </a:t>
            </a:r>
            <a:r>
              <a:rPr lang="ko-KR" altLang="en-US" sz="1200" b="1">
                <a:latin typeface="Pretendard"/>
                <a:ea typeface="Pretendard"/>
              </a:rPr>
              <a:t>텔러입니다</a:t>
            </a:r>
            <a:r>
              <a:rPr lang="en-US" altLang="ko-KR" sz="1200" b="1" dirty="0">
                <a:latin typeface="Pretendard"/>
                <a:ea typeface="Pretendard"/>
              </a:rPr>
              <a:t>. </a:t>
            </a:r>
            <a:r>
              <a:rPr lang="ko-KR" altLang="en-US" sz="1200" b="1" dirty="0">
                <a:latin typeface="Pretendard"/>
                <a:ea typeface="Pretendard"/>
              </a:rPr>
              <a:t>게다가 깊은 </a:t>
            </a:r>
            <a:r>
              <a:rPr lang="en-US" altLang="ko-KR" sz="1200" b="1" dirty="0">
                <a:latin typeface="Pretendard"/>
                <a:ea typeface="Pretendard"/>
              </a:rPr>
              <a:t>AI</a:t>
            </a:r>
            <a:r>
              <a:rPr lang="ko-KR" altLang="en-US" sz="1200" b="1" dirty="0">
                <a:latin typeface="Pretendard"/>
                <a:ea typeface="Pretendard"/>
              </a:rPr>
              <a:t>의 깊은 이해를 바탕으로 </a:t>
            </a:r>
            <a:r>
              <a:rPr lang="en-US" altLang="ko-KR" sz="1200" b="1" dirty="0">
                <a:latin typeface="Pretendard"/>
                <a:ea typeface="Pretendard"/>
              </a:rPr>
              <a:t>“</a:t>
            </a:r>
            <a:r>
              <a:rPr lang="ko-KR" altLang="en-US" sz="1200" b="1" dirty="0">
                <a:latin typeface="Pretendard"/>
                <a:ea typeface="Pretendard"/>
              </a:rPr>
              <a:t>시대를 앞서가는 의사결정자</a:t>
            </a:r>
            <a:r>
              <a:rPr lang="en-US" altLang="ko-KR" sz="1200" b="1" dirty="0">
                <a:latin typeface="Pretendard"/>
                <a:ea typeface="Pretendard"/>
              </a:rPr>
              <a:t>”</a:t>
            </a:r>
            <a:endParaRPr lang="ko-KR" altLang="en-US" sz="1200" b="1" dirty="0">
              <a:latin typeface="Pretendard"/>
              <a:ea typeface="Pretendard"/>
            </a:endParaRP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7887F0B8-ECF7-5A65-3F1A-41B807478035}"/>
              </a:ext>
            </a:extLst>
          </p:cNvPr>
          <p:cNvSpPr/>
          <p:nvPr/>
        </p:nvSpPr>
        <p:spPr>
          <a:xfrm>
            <a:off x="10224655" y="1440873"/>
            <a:ext cx="137016" cy="1518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4DAC9-D192-493A-4E7C-3DFCFD59BDEF}"/>
              </a:ext>
            </a:extLst>
          </p:cNvPr>
          <p:cNvSpPr txBox="1"/>
          <p:nvPr/>
        </p:nvSpPr>
        <p:spPr>
          <a:xfrm>
            <a:off x="9882502" y="986862"/>
            <a:ext cx="16484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50" b="1">
                <a:solidFill>
                  <a:srgbClr val="FF0000"/>
                </a:solidFill>
                <a:latin typeface="Pretendard"/>
                <a:ea typeface="Pretendard"/>
              </a:rPr>
              <a:t>2026.3 </a:t>
            </a:r>
            <a:r>
              <a:rPr lang="ko-KR" altLang="en-US" sz="1050" b="1">
                <a:solidFill>
                  <a:srgbClr val="FF0000"/>
                </a:solidFill>
                <a:latin typeface="Pretendard"/>
                <a:ea typeface="Pretendard"/>
              </a:rPr>
              <a:t>추론의시대</a:t>
            </a:r>
            <a:r>
              <a:rPr lang="en-US" altLang="ko-KR" sz="1050" b="1">
                <a:solidFill>
                  <a:srgbClr val="FF0000"/>
                </a:solidFill>
                <a:latin typeface="Pretendard"/>
                <a:ea typeface="Pretendard"/>
              </a:rPr>
              <a:t>. </a:t>
            </a:r>
          </a:p>
          <a:p>
            <a:pPr algn="l"/>
            <a:r>
              <a:rPr lang="en-US" altLang="ko-KR" sz="1050" b="1">
                <a:solidFill>
                  <a:srgbClr val="FF0000"/>
                </a:solidFill>
                <a:latin typeface="Pretendard"/>
                <a:ea typeface="Pretendard"/>
              </a:rPr>
              <a:t>Vera Rubin (GPU+LPU)</a:t>
            </a:r>
            <a:endParaRPr lang="ko-KR" altLang="en-US" sz="1050" b="1">
              <a:solidFill>
                <a:srgbClr val="FF0000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3170591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00D0E0-3D1D-266A-B17D-3731B0950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5</a:t>
            </a:fld>
            <a:endParaRPr lang="ko-KR" altLang="en-US" sz="800">
              <a:latin typeface="Pretendard"/>
              <a:ea typeface="Pretendard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C74AE04-05E8-2F00-5F56-FB08697B648F}"/>
              </a:ext>
            </a:extLst>
          </p:cNvPr>
          <p:cNvSpPr txBox="1">
            <a:spLocks/>
          </p:cNvSpPr>
          <p:nvPr/>
        </p:nvSpPr>
        <p:spPr>
          <a:xfrm>
            <a:off x="1408809" y="2051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lang="en-US" altLang="ko-KR" sz="2400" b="1">
                <a:latin typeface="Pretendard" panose="020B0503020000020004" pitchFamily="50" charset="-127"/>
                <a:ea typeface="Pretendard"/>
              </a:rPr>
              <a:t>Nvidia</a:t>
            </a:r>
            <a:r>
              <a:rPr lang="ko-KR" altLang="en-US" sz="2400" b="1">
                <a:latin typeface="Pretendard" panose="020B0503020000020004" pitchFamily="50" charset="-127"/>
                <a:ea typeface="Pretendard"/>
              </a:rPr>
              <a:t> 의 경쟁력 </a:t>
            </a:r>
            <a:r>
              <a:rPr lang="en-US" altLang="ko-KR" sz="2400" b="1">
                <a:latin typeface="Pretendard" panose="020B0503020000020004" pitchFamily="50" charset="-127"/>
                <a:ea typeface="Pretendard"/>
              </a:rPr>
              <a:t>= </a:t>
            </a:r>
            <a:r>
              <a:rPr lang="ko-KR" altLang="en-US" sz="2400" b="1">
                <a:latin typeface="Pretendard" panose="020B0503020000020004" pitchFamily="50" charset="-127"/>
                <a:ea typeface="Pretendard"/>
              </a:rPr>
              <a:t>젠슨 황</a:t>
            </a:r>
            <a:r>
              <a:rPr lang="en-US" altLang="ko-KR" sz="2400" b="1">
                <a:latin typeface="Pretendard" panose="020B0503020000020004" pitchFamily="50" charset="-127"/>
                <a:ea typeface="Pretendard"/>
              </a:rPr>
              <a:t>(Jensen Huang) </a:t>
            </a:r>
            <a:endParaRPr lang="ko-KR" altLang="en-US" sz="2400" b="1" dirty="0">
              <a:latin typeface="Pretendard" panose="020B0503020000020004" pitchFamily="50" charset="-127"/>
              <a:ea typeface="Pretendar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A7817D-FABE-A05C-320F-288015BC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953" y="1645997"/>
            <a:ext cx="4925471" cy="2486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07852-53D6-0B99-7A46-7367E1442D97}"/>
              </a:ext>
            </a:extLst>
          </p:cNvPr>
          <p:cNvSpPr txBox="1"/>
          <p:nvPr/>
        </p:nvSpPr>
        <p:spPr>
          <a:xfrm>
            <a:off x="859077" y="1149708"/>
            <a:ext cx="5473874" cy="3607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Pretendard"/>
                <a:ea typeface="Pretendard"/>
              </a:rPr>
              <a:t>시대를 읽는 통찰력</a:t>
            </a:r>
            <a:endParaRPr lang="en-US" altLang="ko-KR" sz="1400">
              <a:latin typeface="Pretendard"/>
              <a:ea typeface="Pretendar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Pretendard"/>
                <a:ea typeface="Pretendard"/>
              </a:rPr>
              <a:t>장기적인 비전과 베팅</a:t>
            </a:r>
            <a:endParaRPr lang="en-US" altLang="ko-KR" sz="1400">
              <a:latin typeface="Pretendard"/>
              <a:ea typeface="Pretendar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"/>
                <a:ea typeface="Pretendard"/>
              </a:rPr>
              <a:t>AI </a:t>
            </a:r>
            <a:r>
              <a:rPr lang="ko-KR" altLang="en-US" sz="1400">
                <a:latin typeface="Pretendard"/>
                <a:ea typeface="Pretendard"/>
              </a:rPr>
              <a:t>서사에 대한 스토리 텔러</a:t>
            </a:r>
            <a:endParaRPr lang="en-US" altLang="ko-KR" sz="1400">
              <a:latin typeface="Pretendard"/>
              <a:ea typeface="Pretendar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Pretendard"/>
                <a:ea typeface="Pretendard"/>
              </a:rPr>
              <a:t>기술</a:t>
            </a:r>
            <a:r>
              <a:rPr lang="en-US" altLang="ko-KR" sz="1400">
                <a:latin typeface="Pretendard"/>
                <a:ea typeface="Pretendard"/>
              </a:rPr>
              <a:t>/</a:t>
            </a:r>
            <a:r>
              <a:rPr lang="ko-KR" altLang="en-US" sz="1400">
                <a:latin typeface="Pretendard"/>
                <a:ea typeface="Pretendard"/>
              </a:rPr>
              <a:t>업에 대한 깊은 이해를 바탕으로한 리더십</a:t>
            </a:r>
            <a:endParaRPr lang="en-US" altLang="ko-KR" sz="1400">
              <a:latin typeface="Pretendard"/>
              <a:ea typeface="Pretendar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Pretendard"/>
                <a:ea typeface="Pretendard"/>
              </a:rPr>
              <a:t>수평적 </a:t>
            </a:r>
            <a:r>
              <a:rPr lang="en-US" altLang="ko-KR" sz="1400">
                <a:latin typeface="Pretendard"/>
                <a:ea typeface="Pretendard"/>
              </a:rPr>
              <a:t>/ </a:t>
            </a:r>
            <a:r>
              <a:rPr lang="ko-KR" altLang="en-US" sz="1400">
                <a:latin typeface="Pretendard"/>
                <a:ea typeface="Pretendard"/>
              </a:rPr>
              <a:t>프로젝트 중심의 조직체계</a:t>
            </a:r>
            <a:endParaRPr lang="en-US" altLang="ko-KR" sz="1400">
              <a:latin typeface="Pretendard"/>
              <a:ea typeface="Pretendard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Pretendard"/>
                <a:ea typeface="Pretendard"/>
              </a:rPr>
              <a:t>운 </a:t>
            </a:r>
            <a:r>
              <a:rPr lang="en-US" altLang="ko-KR" sz="1400">
                <a:latin typeface="Pretendard"/>
                <a:ea typeface="Pretendard"/>
              </a:rPr>
              <a:t>– </a:t>
            </a:r>
            <a:r>
              <a:rPr lang="ko-KR" altLang="en-US" sz="1400">
                <a:latin typeface="Pretendard"/>
                <a:ea typeface="Pretendard"/>
              </a:rPr>
              <a:t>준비된 상태에서 다가 온 행운들</a:t>
            </a:r>
            <a:r>
              <a:rPr lang="en-US" altLang="ko-KR" sz="1400">
                <a:latin typeface="Pretendard"/>
                <a:ea typeface="Pretendard"/>
              </a:rPr>
              <a:t>~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"/>
                <a:ea typeface="Pretendard"/>
              </a:rPr>
              <a:t>2012</a:t>
            </a:r>
            <a:r>
              <a:rPr lang="ko-KR" altLang="en-US" sz="1400">
                <a:latin typeface="Pretendard"/>
                <a:ea typeface="Pretendard"/>
              </a:rPr>
              <a:t>년 </a:t>
            </a:r>
            <a:r>
              <a:rPr lang="en-US" altLang="ko-KR" sz="1400">
                <a:latin typeface="Pretendard"/>
                <a:ea typeface="Pretendard"/>
              </a:rPr>
              <a:t>AI</a:t>
            </a:r>
            <a:r>
              <a:rPr lang="ko-KR" altLang="en-US" sz="1400">
                <a:latin typeface="Pretendard"/>
                <a:ea typeface="Pretendard"/>
              </a:rPr>
              <a:t>의 시작이 </a:t>
            </a:r>
            <a:r>
              <a:rPr lang="en-US" altLang="ko-KR" sz="1400">
                <a:latin typeface="Pretendard"/>
                <a:ea typeface="Pretendard"/>
              </a:rPr>
              <a:t>CUDA +</a:t>
            </a:r>
            <a:r>
              <a:rPr lang="ko-KR" altLang="en-US" sz="1400">
                <a:latin typeface="Pretendard"/>
                <a:ea typeface="Pretendard"/>
              </a:rPr>
              <a:t> </a:t>
            </a:r>
            <a:r>
              <a:rPr lang="en-US" altLang="ko-KR" sz="1400">
                <a:latin typeface="Pretendard"/>
                <a:ea typeface="Pretendard"/>
              </a:rPr>
              <a:t>GTX580 </a:t>
            </a:r>
            <a:r>
              <a:rPr lang="ko-KR" altLang="en-US" sz="1400">
                <a:latin typeface="Pretendard"/>
                <a:ea typeface="Pretendard"/>
              </a:rPr>
              <a:t>자사 제품</a:t>
            </a:r>
            <a:endParaRPr lang="en-US" altLang="ko-KR" sz="1400">
              <a:latin typeface="Pretendard"/>
              <a:ea typeface="Pretendard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"/>
                <a:ea typeface="Pretendard"/>
              </a:rPr>
              <a:t>2020</a:t>
            </a:r>
            <a:r>
              <a:rPr lang="ko-KR" altLang="en-US" sz="1400">
                <a:latin typeface="Pretendard"/>
                <a:ea typeface="Pretendard"/>
              </a:rPr>
              <a:t>년 </a:t>
            </a:r>
            <a:r>
              <a:rPr lang="en-US" altLang="ko-KR" sz="1400">
                <a:latin typeface="Pretendard"/>
                <a:ea typeface="Pretendard"/>
              </a:rPr>
              <a:t>LLM </a:t>
            </a:r>
            <a:r>
              <a:rPr lang="ko-KR" altLang="en-US" sz="1400">
                <a:latin typeface="Pretendard"/>
                <a:ea typeface="Pretendard"/>
              </a:rPr>
              <a:t>의 시작 </a:t>
            </a:r>
            <a:r>
              <a:rPr lang="en-US" altLang="ko-KR" sz="1400">
                <a:latin typeface="Pretendard"/>
                <a:ea typeface="Pretendard"/>
              </a:rPr>
              <a:t>(OpenAI</a:t>
            </a:r>
            <a:r>
              <a:rPr lang="ko-KR" altLang="en-US" sz="1400">
                <a:latin typeface="Pretendard"/>
                <a:ea typeface="Pretendard"/>
              </a:rPr>
              <a:t>의 </a:t>
            </a:r>
            <a:r>
              <a:rPr lang="en-US" altLang="ko-KR" sz="1400">
                <a:latin typeface="Pretendard"/>
                <a:ea typeface="Pretendard"/>
              </a:rPr>
              <a:t>GPT-3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기존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AI 1000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배이상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GPU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필요</a:t>
            </a:r>
            <a:r>
              <a:rPr lang="en-US" altLang="ko-KR" sz="1400">
                <a:latin typeface="Pretendard"/>
                <a:ea typeface="Pretendard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"/>
                <a:ea typeface="Pretendard"/>
              </a:rPr>
              <a:t>2020</a:t>
            </a:r>
            <a:r>
              <a:rPr lang="ko-KR" altLang="en-US" sz="1400">
                <a:latin typeface="Pretendard"/>
                <a:ea typeface="Pretendard"/>
              </a:rPr>
              <a:t>년 팬데믹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데이터 센터 폭발적 사용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 GPU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구매</a:t>
            </a:r>
            <a:endParaRPr lang="en-US" altLang="ko-KR" sz="1400">
              <a:latin typeface="Pretendard"/>
              <a:ea typeface="Pretendard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2022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년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ChatGPT (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연구실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AI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개발 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/>
                <a:ea typeface="Pretendard"/>
                <a:sym typeface="Wingdings" panose="05000000000000000000" pitchFamily="2" charset="2"/>
              </a:rPr>
              <a:t>일반인 사용</a:t>
            </a:r>
            <a:r>
              <a:rPr lang="en-US" altLang="ko-KR" sz="1400">
                <a:latin typeface="Pretendard"/>
                <a:ea typeface="Pretendard"/>
                <a:sym typeface="Wingdings" panose="05000000000000000000" pitchFamily="2" charset="2"/>
              </a:rPr>
              <a:t>)</a:t>
            </a:r>
            <a:endParaRPr lang="ko-KR" altLang="en-US" sz="1400">
              <a:latin typeface="Pretendard"/>
              <a:ea typeface="Pretendard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51C1A18-4A2B-2B46-BD86-5A3DC9C0FF45}"/>
              </a:ext>
            </a:extLst>
          </p:cNvPr>
          <p:cNvSpPr/>
          <p:nvPr/>
        </p:nvSpPr>
        <p:spPr>
          <a:xfrm>
            <a:off x="2254685" y="5655501"/>
            <a:ext cx="851770" cy="331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76206-5C79-28C5-2D0C-193802D54D97}"/>
              </a:ext>
            </a:extLst>
          </p:cNvPr>
          <p:cNvSpPr txBox="1"/>
          <p:nvPr/>
        </p:nvSpPr>
        <p:spPr>
          <a:xfrm>
            <a:off x="3482236" y="5381105"/>
            <a:ext cx="6225435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ko-KR" altLang="en-US" sz="1600">
                <a:latin typeface="Pretendard"/>
                <a:ea typeface="Pretendard"/>
              </a:rPr>
              <a:t>한국의 젠슨 황을 기대하며</a:t>
            </a:r>
            <a:r>
              <a:rPr lang="en-US" altLang="ko-KR" sz="1600">
                <a:latin typeface="Pretendard"/>
                <a:ea typeface="Pretendard"/>
              </a:rPr>
              <a:t>…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600">
                <a:latin typeface="Pretendard"/>
                <a:ea typeface="Pretendard"/>
              </a:rPr>
              <a:t>직원들의 뛰어난 노력과 적극적인 </a:t>
            </a:r>
            <a:r>
              <a:rPr lang="en-US" altLang="ko-KR" sz="1600">
                <a:latin typeface="Pretendard"/>
                <a:ea typeface="Pretendard"/>
              </a:rPr>
              <a:t>AI </a:t>
            </a:r>
            <a:r>
              <a:rPr lang="ko-KR" altLang="en-US" sz="1600">
                <a:latin typeface="Pretendard"/>
                <a:ea typeface="Pretendard"/>
              </a:rPr>
              <a:t>활용</a:t>
            </a:r>
            <a:endParaRPr lang="en-US" altLang="ko-KR" sz="1600">
              <a:latin typeface="Pretendard"/>
              <a:ea typeface="Pretendard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600">
                <a:latin typeface="Pretendard"/>
                <a:ea typeface="Pretendard"/>
              </a:rPr>
              <a:t>CEO</a:t>
            </a:r>
            <a:r>
              <a:rPr lang="ko-KR" altLang="en-US" sz="1600">
                <a:latin typeface="Pretendard"/>
                <a:ea typeface="Pretendard"/>
              </a:rPr>
              <a:t>의 비젼</a:t>
            </a:r>
            <a:r>
              <a:rPr lang="en-US" altLang="ko-KR" sz="1600">
                <a:latin typeface="Pretendard"/>
                <a:ea typeface="Pretendard"/>
              </a:rPr>
              <a:t>, </a:t>
            </a:r>
            <a:r>
              <a:rPr lang="ko-KR" altLang="en-US" sz="1600">
                <a:latin typeface="Pretendard"/>
                <a:ea typeface="Pretendard"/>
              </a:rPr>
              <a:t>기술적 이해를 바탕으로 한 수평적 조직문화</a:t>
            </a:r>
          </a:p>
        </p:txBody>
      </p:sp>
    </p:spTree>
    <p:extLst>
      <p:ext uri="{BB962C8B-B14F-4D97-AF65-F5344CB8AC3E}">
        <p14:creationId xmlns:p14="http://schemas.microsoft.com/office/powerpoint/2010/main" val="233706263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1744862" y="151861"/>
            <a:ext cx="7902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>
                <a:latin typeface="Pretendard"/>
                <a:ea typeface="Pretendard"/>
              </a:rPr>
              <a:t>왜 </a:t>
            </a:r>
            <a:r>
              <a:rPr lang="en-US" altLang="ko-KR" sz="2400" b="1" dirty="0">
                <a:latin typeface="Pretendard"/>
                <a:ea typeface="Pretendard"/>
              </a:rPr>
              <a:t>CEO/</a:t>
            </a:r>
            <a:r>
              <a:rPr lang="ko-KR" altLang="en-US" sz="2400" b="1" dirty="0">
                <a:latin typeface="Pretendard"/>
                <a:ea typeface="Pretendard"/>
              </a:rPr>
              <a:t>임원이 </a:t>
            </a:r>
            <a:r>
              <a:rPr lang="en-US" altLang="ko-KR" sz="2400" b="1" dirty="0">
                <a:latin typeface="Pretendard"/>
                <a:ea typeface="Pretendard"/>
              </a:rPr>
              <a:t>AI Technical</a:t>
            </a:r>
            <a:r>
              <a:rPr lang="ko-KR" altLang="en-US" sz="2400" b="1" dirty="0">
                <a:latin typeface="Pretendard"/>
                <a:ea typeface="Pretendard"/>
              </a:rPr>
              <a:t> </a:t>
            </a:r>
            <a:r>
              <a:rPr lang="en-US" altLang="ko-KR" sz="2400" b="1" dirty="0">
                <a:latin typeface="Pretendard"/>
                <a:ea typeface="Pretendard"/>
              </a:rPr>
              <a:t>Leader</a:t>
            </a:r>
            <a:r>
              <a:rPr lang="ko-KR" altLang="en-US" sz="2400" b="1" dirty="0">
                <a:latin typeface="Pretendard"/>
                <a:ea typeface="Pretendard"/>
              </a:rPr>
              <a:t>가 되어야 하는가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D4073-E464-4551-9DD5-61FB638466AF}"/>
              </a:ext>
            </a:extLst>
          </p:cNvPr>
          <p:cNvSpPr txBox="1"/>
          <p:nvPr/>
        </p:nvSpPr>
        <p:spPr>
          <a:xfrm>
            <a:off x="1933931" y="1513469"/>
            <a:ext cx="999075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/>
                <a:ea typeface="Pretendard"/>
              </a:rPr>
              <a:t>시대가 바뀌었다</a:t>
            </a:r>
            <a:endParaRPr lang="en-US" altLang="ko-KR" b="1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는 지금까지 </a:t>
            </a:r>
            <a:r>
              <a:rPr lang="en-US" altLang="ko-KR" sz="1400" dirty="0">
                <a:latin typeface="Pretendard"/>
                <a:ea typeface="Pretendard"/>
              </a:rPr>
              <a:t>IT</a:t>
            </a:r>
            <a:r>
              <a:rPr lang="ko-KR" altLang="en-US" sz="1400" dirty="0">
                <a:latin typeface="Pretendard"/>
                <a:ea typeface="Pretendard"/>
              </a:rPr>
              <a:t>기술과는 완전히 다르다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/>
                <a:ea typeface="Pretendard"/>
              </a:rPr>
              <a:t>일반적으로 </a:t>
            </a: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에 대한 강의를 듣는 것으로 충분하지 않다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는 상식이 주는 위험성이 항상 존재한다 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/>
                <a:ea typeface="Pretendard"/>
              </a:rPr>
              <a:t>누구도 </a:t>
            </a: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는 모르지만 아무나 </a:t>
            </a:r>
            <a:r>
              <a:rPr lang="en-US" altLang="ko-KR" sz="1400" dirty="0">
                <a:latin typeface="Pretendard"/>
                <a:ea typeface="Pretendard"/>
              </a:rPr>
              <a:t>AI </a:t>
            </a:r>
            <a:r>
              <a:rPr lang="ko-KR" altLang="en-US" sz="1400" dirty="0">
                <a:latin typeface="Pretendard"/>
                <a:ea typeface="Pretendard"/>
              </a:rPr>
              <a:t>전문가가 될 수 있다</a:t>
            </a:r>
            <a:r>
              <a:rPr lang="en-US" altLang="ko-KR" sz="1400" dirty="0">
                <a:latin typeface="Pretendard"/>
                <a:ea typeface="Pretendard"/>
              </a:rPr>
              <a:t>(?) </a:t>
            </a:r>
            <a:r>
              <a:rPr lang="en-US" altLang="ko-KR" sz="1400" dirty="0">
                <a:latin typeface="Pretendard"/>
                <a:ea typeface="Pretendard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Pretendard"/>
                <a:ea typeface="Pretendard"/>
                <a:sym typeface="Wingdings" panose="05000000000000000000" pitchFamily="2" charset="2"/>
              </a:rPr>
              <a:t>전문가인지 아닌지 구분하기 어렵기 때문에</a:t>
            </a:r>
            <a:r>
              <a:rPr lang="en-US" altLang="ko-KR" sz="1400" dirty="0">
                <a:latin typeface="Pretendard"/>
                <a:ea typeface="Pretendard"/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latin typeface="Pretendard"/>
              <a:ea typeface="Pretendard"/>
              <a:sym typeface="Wingdings" panose="05000000000000000000" pitchFamily="2" charset="2"/>
            </a:endParaRPr>
          </a:p>
          <a:p>
            <a:r>
              <a:rPr lang="ko-KR" altLang="en-US" b="1" dirty="0">
                <a:latin typeface="Pretendard"/>
                <a:ea typeface="Pretendard"/>
                <a:sym typeface="Wingdings" panose="05000000000000000000" pitchFamily="2" charset="2"/>
              </a:rPr>
              <a:t>시대는 너무나 빠르게 변하고 있다</a:t>
            </a:r>
            <a:endParaRPr lang="en-US" altLang="ko-KR" b="1" dirty="0">
              <a:latin typeface="Pretendard"/>
              <a:ea typeface="Pretendard"/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CEO/</a:t>
            </a:r>
            <a:r>
              <a:rPr lang="ko-KR" altLang="en-US" sz="1400" dirty="0">
                <a:latin typeface="Pretendard"/>
                <a:ea typeface="Pretendard"/>
              </a:rPr>
              <a:t>임원이 </a:t>
            </a:r>
            <a:r>
              <a:rPr lang="en-US" altLang="ko-KR" sz="1400" dirty="0">
                <a:latin typeface="Pretendard"/>
                <a:ea typeface="Pretendard"/>
              </a:rPr>
              <a:t>AI </a:t>
            </a:r>
            <a:r>
              <a:rPr lang="ko-KR" altLang="en-US" sz="1400" dirty="0">
                <a:latin typeface="Pretendard"/>
                <a:ea typeface="Pretendard"/>
              </a:rPr>
              <a:t>에 대해서 모르는 것이 큰 단점이 된다</a:t>
            </a:r>
            <a:r>
              <a:rPr lang="en-US" altLang="ko-KR" sz="1400" dirty="0">
                <a:latin typeface="Pretendard"/>
                <a:ea typeface="Pretendard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/>
                <a:ea typeface="Pretendard"/>
              </a:rPr>
              <a:t>이제는 </a:t>
            </a:r>
            <a:r>
              <a:rPr lang="en-US" altLang="ko-KR" sz="1400" dirty="0">
                <a:latin typeface="Pretendard"/>
                <a:ea typeface="Pretendard"/>
              </a:rPr>
              <a:t>CEO/</a:t>
            </a:r>
            <a:r>
              <a:rPr lang="ko-KR" altLang="en-US" sz="1400" dirty="0">
                <a:latin typeface="Pretendard"/>
                <a:ea typeface="Pretendard"/>
              </a:rPr>
              <a:t>임원이 부하직원에게 </a:t>
            </a:r>
            <a:r>
              <a:rPr lang="en-US" altLang="ko-KR" sz="1400" dirty="0">
                <a:latin typeface="Pretendard"/>
                <a:ea typeface="Pretendard"/>
              </a:rPr>
              <a:t>AI </a:t>
            </a:r>
            <a:r>
              <a:rPr lang="ko-KR" altLang="en-US" sz="1400" dirty="0">
                <a:latin typeface="Pretendard"/>
                <a:ea typeface="Pretendard"/>
              </a:rPr>
              <a:t>기술을 설명해달라는 것이 자연스럽지 않다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CEO/</a:t>
            </a:r>
            <a:r>
              <a:rPr lang="ko-KR" altLang="en-US" sz="1400" dirty="0">
                <a:latin typeface="Pretendard"/>
                <a:ea typeface="Pretendard"/>
              </a:rPr>
              <a:t>임원들이 기술에 대해서도 잘 알아서 즉시 올바른 의사결정을 하지 않으면 기업이 망한다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ea typeface="Pretendard"/>
            </a:endParaRPr>
          </a:p>
          <a:p>
            <a:r>
              <a:rPr lang="en-US" altLang="ko-KR" b="1" dirty="0">
                <a:latin typeface="Pretendard"/>
                <a:ea typeface="Pretendard"/>
              </a:rPr>
              <a:t>AI</a:t>
            </a:r>
            <a:r>
              <a:rPr lang="ko-KR" altLang="en-US" b="1" dirty="0">
                <a:latin typeface="Pretendard"/>
                <a:ea typeface="Pretendard"/>
              </a:rPr>
              <a:t>는 모든 산업</a:t>
            </a:r>
            <a:r>
              <a:rPr lang="en-US" altLang="ko-KR" b="1" dirty="0">
                <a:latin typeface="Pretendard"/>
                <a:ea typeface="Pretendard"/>
              </a:rPr>
              <a:t>, </a:t>
            </a:r>
            <a:r>
              <a:rPr lang="ko-KR" altLang="en-US" b="1" dirty="0">
                <a:latin typeface="Pretendard"/>
                <a:ea typeface="Pretendard"/>
              </a:rPr>
              <a:t>모든 분야에 필요하다</a:t>
            </a:r>
            <a:endParaRPr lang="en-US" altLang="ko-KR" b="1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는 기업환경을 바꾼다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AI </a:t>
            </a:r>
            <a:r>
              <a:rPr lang="ko-KR" altLang="en-US" sz="1400" dirty="0">
                <a:latin typeface="Pretendard"/>
                <a:ea typeface="Pretendard"/>
              </a:rPr>
              <a:t>전문가는 항상 모자라고 절대적으로 필요하지만 모시기 어렵다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를 잘 활용하는 기업이 </a:t>
            </a:r>
            <a:r>
              <a:rPr lang="en-US" altLang="ko-KR" sz="1400" dirty="0">
                <a:latin typeface="Pretendard"/>
                <a:ea typeface="Pretendard"/>
              </a:rPr>
              <a:t>AI</a:t>
            </a:r>
            <a:r>
              <a:rPr lang="ko-KR" altLang="en-US" sz="1400" dirty="0">
                <a:latin typeface="Pretendard"/>
                <a:ea typeface="Pretendard"/>
              </a:rPr>
              <a:t>를 활용 안 하는 기업을 이긴다</a:t>
            </a:r>
            <a:endParaRPr lang="en-US" altLang="ko-KR" sz="1400" dirty="0">
              <a:latin typeface="Pretendard"/>
              <a:ea typeface="Pretendar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highlight>
                  <a:srgbClr val="FFFF00"/>
                </a:highlight>
                <a:latin typeface="Pretendard"/>
                <a:ea typeface="Pretendard"/>
              </a:rPr>
              <a:t>기업에서 </a:t>
            </a:r>
            <a:r>
              <a:rPr lang="en-US" altLang="ko-KR" sz="1400" dirty="0">
                <a:highlight>
                  <a:srgbClr val="FFFF00"/>
                </a:highlight>
                <a:latin typeface="Pretendard"/>
                <a:ea typeface="Pretendard"/>
              </a:rPr>
              <a:t>AI </a:t>
            </a:r>
            <a:r>
              <a:rPr lang="ko-KR" altLang="en-US" sz="1400" dirty="0">
                <a:highlight>
                  <a:srgbClr val="FFFF00"/>
                </a:highlight>
                <a:latin typeface="Pretendard"/>
                <a:ea typeface="Pretendard"/>
              </a:rPr>
              <a:t>활용수준은 </a:t>
            </a:r>
            <a:r>
              <a:rPr lang="en-US" altLang="ko-KR" sz="1400" dirty="0">
                <a:highlight>
                  <a:srgbClr val="FFFF00"/>
                </a:highlight>
                <a:latin typeface="Pretendard"/>
                <a:ea typeface="Pretendard"/>
              </a:rPr>
              <a:t>CEO/</a:t>
            </a:r>
            <a:r>
              <a:rPr lang="ko-KR" altLang="en-US" sz="1400" dirty="0">
                <a:highlight>
                  <a:srgbClr val="FFFF00"/>
                </a:highlight>
                <a:latin typeface="Pretendard"/>
                <a:ea typeface="Pretendard"/>
              </a:rPr>
              <a:t>임원의 수준이다</a:t>
            </a:r>
            <a:r>
              <a:rPr lang="en-US" altLang="ko-KR" sz="1400" dirty="0">
                <a:highlight>
                  <a:srgbClr val="FFFF00"/>
                </a:highlight>
                <a:latin typeface="Pretendard"/>
                <a:ea typeface="Pretendard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/>
                <a:ea typeface="Pretendard"/>
              </a:rPr>
              <a:t>CEO/</a:t>
            </a:r>
            <a:r>
              <a:rPr lang="ko-KR" altLang="en-US" sz="1400" dirty="0">
                <a:latin typeface="Pretendard"/>
                <a:ea typeface="Pretendard"/>
              </a:rPr>
              <a:t>임원들이 고객의 눈높이에서 </a:t>
            </a:r>
            <a:r>
              <a:rPr lang="en-US" altLang="ko-KR" sz="1400" dirty="0">
                <a:latin typeface="Pretendard"/>
                <a:ea typeface="Pretendard"/>
              </a:rPr>
              <a:t>AI </a:t>
            </a:r>
            <a:r>
              <a:rPr lang="ko-KR" altLang="en-US" sz="1400" dirty="0">
                <a:latin typeface="Pretendard"/>
                <a:ea typeface="Pretendard"/>
              </a:rPr>
              <a:t>기술과 융합이 된 우리 회사의 제품</a:t>
            </a:r>
            <a:r>
              <a:rPr lang="en-US" altLang="ko-KR" sz="1400" dirty="0">
                <a:latin typeface="Pretendard"/>
                <a:ea typeface="Pretendard"/>
              </a:rPr>
              <a:t>/</a:t>
            </a:r>
            <a:r>
              <a:rPr lang="ko-KR" altLang="en-US" sz="1400" dirty="0">
                <a:latin typeface="Pretendard"/>
                <a:ea typeface="Pretendard"/>
              </a:rPr>
              <a:t>서비스를 이야기할 수 있어야 한다</a:t>
            </a:r>
            <a:endParaRPr lang="en-US" altLang="ko-KR" sz="1400" dirty="0">
              <a:latin typeface="Pretendard"/>
              <a:ea typeface="Pretendard"/>
            </a:endParaRPr>
          </a:p>
          <a:p>
            <a:endParaRPr lang="en-US" altLang="ko-KR" dirty="0">
              <a:latin typeface="Pretendard"/>
              <a:ea typeface="Pretendard"/>
            </a:endParaRPr>
          </a:p>
        </p:txBody>
      </p:sp>
      <p:sp>
        <p:nvSpPr>
          <p:cNvPr id="3" name="슬라이드 번호 개체 틀 143">
            <a:extLst>
              <a:ext uri="{FF2B5EF4-FFF2-40B4-BE49-F238E27FC236}">
                <a16:creationId xmlns:a16="http://schemas.microsoft.com/office/drawing/2014/main" id="{D6BB249E-948B-CD5D-B085-9660C4F36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pPr algn="r"/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 algn="r"/>
              <a:t>6</a:t>
            </a:fld>
            <a:endParaRPr lang="ko-KR" altLang="en-US" sz="800" dirty="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2699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C0CA32-F521-6628-B3D1-BF237B98F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7</a:t>
            </a:fld>
            <a:endParaRPr lang="ko-KR" altLang="en-US" sz="800">
              <a:latin typeface="Pretendard"/>
              <a:ea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B9C14-1A6A-4E25-BFAB-651DDF12A217}"/>
              </a:ext>
            </a:extLst>
          </p:cNvPr>
          <p:cNvSpPr txBox="1"/>
          <p:nvPr/>
        </p:nvSpPr>
        <p:spPr>
          <a:xfrm>
            <a:off x="1524000" y="2032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1B2A4A"/>
                </a:solidFill>
                <a:latin typeface="Pretendard"/>
                <a:ea typeface="Pretendard"/>
              </a:rPr>
              <a:t>Thank You</a:t>
            </a:r>
            <a:endParaRPr lang="ko-KR" altLang="en-US" sz="3600" b="1">
              <a:solidFill>
                <a:srgbClr val="1B2A4A"/>
              </a:solidFill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D05F8-5EFC-48BA-B8C3-2627EB94E4A7}"/>
              </a:ext>
            </a:extLst>
          </p:cNvPr>
          <p:cNvSpPr txBox="1"/>
          <p:nvPr/>
        </p:nvSpPr>
        <p:spPr>
          <a:xfrm>
            <a:off x="1524000" y="29210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>
                <a:solidFill>
                  <a:srgbClr val="3A86FF"/>
                </a:solidFill>
                <a:latin typeface="Pretendard"/>
                <a:ea typeface="Pretendard"/>
              </a:rPr>
              <a:t>Q &amp; A</a:t>
            </a:r>
            <a:endParaRPr lang="ko-KR" altLang="en-US" sz="2800">
              <a:solidFill>
                <a:srgbClr val="3A86F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7F106-7B7A-4E9A-B9F6-9A657D3F7F5B}"/>
              </a:ext>
            </a:extLst>
          </p:cNvPr>
          <p:cNvSpPr txBox="1"/>
          <p:nvPr/>
        </p:nvSpPr>
        <p:spPr>
          <a:xfrm>
            <a:off x="1524000" y="4064000"/>
            <a:ext cx="91440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장동인 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| KAIST AI 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대학원 책임교수 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/ AIBB LAB 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대표</a:t>
            </a:r>
            <a:endParaRPr lang="en-US" altLang="ko-KR" sz="1400">
              <a:solidFill>
                <a:srgbClr val="7F8FA9"/>
              </a:solidFill>
              <a:latin typeface="Pretendard"/>
              <a:ea typeface="Pretendard"/>
            </a:endParaRP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010-5259-9509</a:t>
            </a: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donchang@kaist.ac.kr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
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  <a:hlinkClick r:id="rId2"/>
              </a:rPr>
              <a:t>donchang0725@gmail.com</a:t>
            </a:r>
            <a:endParaRPr lang="en-US" altLang="ko-KR" sz="1400">
              <a:solidFill>
                <a:srgbClr val="7F8FA9"/>
              </a:solidFill>
              <a:latin typeface="Pretendard"/>
              <a:ea typeface="Pretendard"/>
            </a:endParaRP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https://ai4ceo.app</a:t>
            </a:r>
            <a:endParaRPr lang="ko-KR" altLang="en-US" sz="1400">
              <a:solidFill>
                <a:srgbClr val="7F8FA9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373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8833800516]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모던 테크">
      <a:majorFont>
        <a:latin typeface="Pretendard" panose="0211000402020202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05A54-4181-46A8-9FB7-561A6204D55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c39d3b2b-d861-4a31-b8af-2eba7f857ee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44807</TotalTime>
  <Words>689</Words>
  <Application>Microsoft Office PowerPoint</Application>
  <PresentationFormat>와이드스크린</PresentationFormat>
  <Paragraphs>126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Pretendard</vt:lpstr>
      <vt:lpstr>맑은 고딕</vt:lpstr>
      <vt:lpstr>Arial</vt:lpstr>
      <vt:lpstr>Wingdings</vt:lpstr>
      <vt:lpstr>Office 테마 [1788833800516]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 don</dc:creator>
  <cp:lastModifiedBy>CHANG DON</cp:lastModifiedBy>
  <cp:revision>947</cp:revision>
  <cp:lastPrinted>2025-02-10T02:52:20Z</cp:lastPrinted>
  <dcterms:created xsi:type="dcterms:W3CDTF">2020-07-31T12:59:17Z</dcterms:created>
  <dcterms:modified xsi:type="dcterms:W3CDTF">2026-10-06T09:44:18Z</dcterms:modified>
</cp:coreProperties>
</file>