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692" r:id="rId2"/>
    <p:sldId id="1857" r:id="rId3"/>
    <p:sldId id="1858" r:id="rId4"/>
  </p:sldIdLst>
  <p:sldSz cx="12192000" cy="6858000"/>
  <p:notesSz cx="9875838" cy="6742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9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168"/>
    </p:cViewPr>
  </p:sorterViewPr>
  <p:notesViewPr>
    <p:cSldViewPr snapToGrid="0">
      <p:cViewPr varScale="1">
        <p:scale>
          <a:sx n="164" d="100"/>
          <a:sy n="164" d="100"/>
        </p:scale>
        <p:origin x="2532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41F8D07-C816-4EA5-8632-09EE2BAB9B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4388D0-BCFD-FA83-A869-2D45C26056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4024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FAECC-ED9A-4243-A8FB-ECBE51B74931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9F4BB-B8AD-651D-12BE-20AF3E03CA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408A61-9A6D-8BA0-8ABB-25C2C38585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4024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07A6-A91B-4253-A7BB-5098ED30E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28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4024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EDA96-7651-4508-B2AB-9DCBFBE8056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5" y="3244642"/>
            <a:ext cx="7900670" cy="26547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4024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DA1A-B315-453A-B1F2-119699FE8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8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03744" y="7556619"/>
            <a:ext cx="4210466" cy="397790"/>
          </a:xfrm>
          <a:prstGeom prst="rect">
            <a:avLst/>
          </a:prstGeom>
        </p:spPr>
        <p:txBody>
          <a:bodyPr/>
          <a:lstStyle/>
          <a:p>
            <a:fld id="{96188ACF-FB21-4870-9A37-E58C25E3BF2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1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2DD3D-B595-4C1C-9AA3-5D3F4218F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D683BA-51BD-46D3-900C-96B554AB4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037A00-458C-DB4C-20A3-2A89E0FFE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74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92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21973-106A-429E-AC36-501C7AAE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604DC-3F37-4985-A953-B238E3E63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00F14-2276-028A-72E2-82A292C84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2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98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0CFF5-9757-4E63-82C6-1C765CAE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076757-CD15-4B07-A9DF-283A4E9B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A43E6-E826-6C18-424F-D83C2577F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9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6B84E-9404-48AF-9082-556A02E2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CA967-E4A3-4E32-A9AC-BFD35A98D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1C7106-2F0D-42C8-A92A-F76E9904B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6B68218B-0F42-1A70-1DD6-AAA4EB71E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86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316EF-50A9-4678-9393-F382547C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3D61E-D2B4-42E8-925E-FF756317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8E9BA4-FB39-4602-80C6-1C3C02873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3C81B2-EDAB-4DDE-84E0-AFF852EF5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32B60E-A6EF-4E1E-BE20-4E34BE33C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7750FC9F-7912-E351-2A0E-64CE29C3A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2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B3D1A-7F30-4ABA-AA3B-64BFF98C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05A336FE-C644-B2A3-1CBC-31F51F08B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94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6">
            <a:extLst>
              <a:ext uri="{FF2B5EF4-FFF2-40B4-BE49-F238E27FC236}">
                <a16:creationId xmlns:a16="http://schemas.microsoft.com/office/drawing/2014/main" id="{ED0C644A-9918-59CE-BA5A-90AE6526C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77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05FAC-8D54-4749-A29C-74CAF971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3F257-A3B4-418F-AE1E-B264E595E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DD5B59-24DF-49A0-8D3D-66EAA1CFF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95BCA259-A4BB-D2E6-6EF3-1F48C8A1F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97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D2F4B-5F98-47C5-9B2B-A944C573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891E6C-90ED-4676-B8BF-83206E076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59F828-D7F1-4F5F-8A28-FE7B7827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E1CB830B-292A-FBF9-70CD-745C959C3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27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9249D-B450-4D8E-9B41-2DE161F8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E8387D-E8D2-4CBE-8B3E-4C6820CCC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B16B06-D09A-F13A-A9BB-D748F5FC4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81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0565E1-4613-4A94-90BA-29CAB9DB8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A224B5-CFAC-4EE5-B08E-C938054C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4E7C5B-4028-752A-BDB5-06238CD74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235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 userDrawn="1"/>
        </p:nvGrpSpPr>
        <p:grpSpPr bwMode="auto">
          <a:xfrm>
            <a:off x="1325490" y="305467"/>
            <a:ext cx="1816447" cy="305001"/>
            <a:chOff x="5137" y="4139"/>
            <a:chExt cx="335" cy="75"/>
          </a:xfrm>
          <a:solidFill>
            <a:schemeClr val="bg1"/>
          </a:solidFill>
        </p:grpSpPr>
        <p:sp>
          <p:nvSpPr>
            <p:cNvPr id="8" name="Freeform 5"/>
            <p:cNvSpPr>
              <a:spLocks noEditPoints="1"/>
            </p:cNvSpPr>
            <p:nvPr userDrawn="1"/>
          </p:nvSpPr>
          <p:spPr bwMode="auto">
            <a:xfrm>
              <a:off x="5137" y="4139"/>
              <a:ext cx="324" cy="75"/>
            </a:xfrm>
            <a:custGeom>
              <a:avLst/>
              <a:gdLst>
                <a:gd name="T0" fmla="*/ 660 w 3745"/>
                <a:gd name="T1" fmla="*/ 0 h 863"/>
                <a:gd name="T2" fmla="*/ 0 w 3745"/>
                <a:gd name="T3" fmla="*/ 73 h 863"/>
                <a:gd name="T4" fmla="*/ 292 w 3745"/>
                <a:gd name="T5" fmla="*/ 804 h 863"/>
                <a:gd name="T6" fmla="*/ 399 w 3745"/>
                <a:gd name="T7" fmla="*/ 863 h 863"/>
                <a:gd name="T8" fmla="*/ 637 w 3745"/>
                <a:gd name="T9" fmla="*/ 73 h 863"/>
                <a:gd name="T10" fmla="*/ 660 w 3745"/>
                <a:gd name="T11" fmla="*/ 0 h 863"/>
                <a:gd name="T12" fmla="*/ 2673 w 3745"/>
                <a:gd name="T13" fmla="*/ 181 h 863"/>
                <a:gd name="T14" fmla="*/ 2408 w 3745"/>
                <a:gd name="T15" fmla="*/ 768 h 863"/>
                <a:gd name="T16" fmla="*/ 2522 w 3745"/>
                <a:gd name="T17" fmla="*/ 729 h 863"/>
                <a:gd name="T18" fmla="*/ 2698 w 3745"/>
                <a:gd name="T19" fmla="*/ 596 h 863"/>
                <a:gd name="T20" fmla="*/ 2590 w 3745"/>
                <a:gd name="T21" fmla="*/ 533 h 863"/>
                <a:gd name="T22" fmla="*/ 2812 w 3745"/>
                <a:gd name="T23" fmla="*/ 729 h 863"/>
                <a:gd name="T24" fmla="*/ 2941 w 3745"/>
                <a:gd name="T25" fmla="*/ 768 h 863"/>
                <a:gd name="T26" fmla="*/ 2673 w 3745"/>
                <a:gd name="T27" fmla="*/ 181 h 863"/>
                <a:gd name="T28" fmla="*/ 3529 w 3745"/>
                <a:gd name="T29" fmla="*/ 203 h 863"/>
                <a:gd name="T30" fmla="*/ 3425 w 3745"/>
                <a:gd name="T31" fmla="*/ 203 h 863"/>
                <a:gd name="T32" fmla="*/ 3252 w 3745"/>
                <a:gd name="T33" fmla="*/ 768 h 863"/>
                <a:gd name="T34" fmla="*/ 3374 w 3745"/>
                <a:gd name="T35" fmla="*/ 596 h 863"/>
                <a:gd name="T36" fmla="*/ 3483 w 3745"/>
                <a:gd name="T37" fmla="*/ 533 h 863"/>
                <a:gd name="T38" fmla="*/ 3473 w 3745"/>
                <a:gd name="T39" fmla="*/ 310 h 863"/>
                <a:gd name="T40" fmla="*/ 3695 w 3745"/>
                <a:gd name="T41" fmla="*/ 768 h 863"/>
                <a:gd name="T42" fmla="*/ 3529 w 3745"/>
                <a:gd name="T43" fmla="*/ 203 h 863"/>
                <a:gd name="T44" fmla="*/ 1655 w 3745"/>
                <a:gd name="T45" fmla="*/ 181 h 863"/>
                <a:gd name="T46" fmla="*/ 1603 w 3745"/>
                <a:gd name="T47" fmla="*/ 203 h 863"/>
                <a:gd name="T48" fmla="*/ 1247 w 3745"/>
                <a:gd name="T49" fmla="*/ 515 h 863"/>
                <a:gd name="T50" fmla="*/ 1374 w 3745"/>
                <a:gd name="T51" fmla="*/ 336 h 863"/>
                <a:gd name="T52" fmla="*/ 969 w 3745"/>
                <a:gd name="T53" fmla="*/ 189 h 863"/>
                <a:gd name="T54" fmla="*/ 737 w 3745"/>
                <a:gd name="T55" fmla="*/ 704 h 863"/>
                <a:gd name="T56" fmla="*/ 625 w 3745"/>
                <a:gd name="T57" fmla="*/ 488 h 863"/>
                <a:gd name="T58" fmla="*/ 816 w 3745"/>
                <a:gd name="T59" fmla="*/ 424 h 863"/>
                <a:gd name="T60" fmla="*/ 625 w 3745"/>
                <a:gd name="T61" fmla="*/ 253 h 863"/>
                <a:gd name="T62" fmla="*/ 897 w 3745"/>
                <a:gd name="T63" fmla="*/ 189 h 863"/>
                <a:gd name="T64" fmla="*/ 520 w 3745"/>
                <a:gd name="T65" fmla="*/ 590 h 863"/>
                <a:gd name="T66" fmla="*/ 1074 w 3745"/>
                <a:gd name="T67" fmla="*/ 766 h 863"/>
                <a:gd name="T68" fmla="*/ 1149 w 3745"/>
                <a:gd name="T69" fmla="*/ 253 h 863"/>
                <a:gd name="T70" fmla="*/ 1271 w 3745"/>
                <a:gd name="T71" fmla="*/ 387 h 863"/>
                <a:gd name="T72" fmla="*/ 1110 w 3745"/>
                <a:gd name="T73" fmla="*/ 461 h 863"/>
                <a:gd name="T74" fmla="*/ 1338 w 3745"/>
                <a:gd name="T75" fmla="*/ 768 h 863"/>
                <a:gd name="T76" fmla="*/ 1505 w 3745"/>
                <a:gd name="T77" fmla="*/ 729 h 863"/>
                <a:gd name="T78" fmla="*/ 1680 w 3745"/>
                <a:gd name="T79" fmla="*/ 596 h 863"/>
                <a:gd name="T80" fmla="*/ 1573 w 3745"/>
                <a:gd name="T81" fmla="*/ 533 h 863"/>
                <a:gd name="T82" fmla="*/ 1795 w 3745"/>
                <a:gd name="T83" fmla="*/ 729 h 863"/>
                <a:gd name="T84" fmla="*/ 1923 w 3745"/>
                <a:gd name="T85" fmla="*/ 768 h 863"/>
                <a:gd name="T86" fmla="*/ 1655 w 3745"/>
                <a:gd name="T87" fmla="*/ 181 h 863"/>
                <a:gd name="T88" fmla="*/ 2304 w 3745"/>
                <a:gd name="T89" fmla="*/ 530 h 863"/>
                <a:gd name="T90" fmla="*/ 2068 w 3745"/>
                <a:gd name="T91" fmla="*/ 704 h 863"/>
                <a:gd name="T92" fmla="*/ 2159 w 3745"/>
                <a:gd name="T93" fmla="*/ 253 h 863"/>
                <a:gd name="T94" fmla="*/ 2304 w 3745"/>
                <a:gd name="T95" fmla="*/ 530 h 863"/>
                <a:gd name="T96" fmla="*/ 2409 w 3745"/>
                <a:gd name="T97" fmla="*/ 432 h 863"/>
                <a:gd name="T98" fmla="*/ 2159 w 3745"/>
                <a:gd name="T99" fmla="*/ 189 h 863"/>
                <a:gd name="T100" fmla="*/ 1963 w 3745"/>
                <a:gd name="T101" fmla="*/ 709 h 863"/>
                <a:gd name="T102" fmla="*/ 2159 w 3745"/>
                <a:gd name="T103" fmla="*/ 768 h 863"/>
                <a:gd name="T104" fmla="*/ 2409 w 3745"/>
                <a:gd name="T105" fmla="*/ 530 h 863"/>
                <a:gd name="T106" fmla="*/ 2409 w 3745"/>
                <a:gd name="T107" fmla="*/ 432 h 863"/>
                <a:gd name="T108" fmla="*/ 3332 w 3745"/>
                <a:gd name="T109" fmla="*/ 190 h 863"/>
                <a:gd name="T110" fmla="*/ 2831 w 3745"/>
                <a:gd name="T111" fmla="*/ 254 h 863"/>
                <a:gd name="T112" fmla="*/ 3028 w 3745"/>
                <a:gd name="T113" fmla="*/ 710 h 863"/>
                <a:gd name="T114" fmla="*/ 3135 w 3745"/>
                <a:gd name="T115" fmla="*/ 768 h 863"/>
                <a:gd name="T116" fmla="*/ 3313 w 3745"/>
                <a:gd name="T117" fmla="*/ 254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5" h="863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5464" y="4197"/>
              <a:ext cx="8" cy="9"/>
            </a:xfrm>
            <a:custGeom>
              <a:avLst/>
              <a:gdLst>
                <a:gd name="T0" fmla="*/ 59 w 99"/>
                <a:gd name="T1" fmla="*/ 30 h 98"/>
                <a:gd name="T2" fmla="*/ 59 w 99"/>
                <a:gd name="T3" fmla="*/ 30 h 98"/>
                <a:gd name="T4" fmla="*/ 47 w 99"/>
                <a:gd name="T5" fmla="*/ 28 h 98"/>
                <a:gd name="T6" fmla="*/ 39 w 99"/>
                <a:gd name="T7" fmla="*/ 28 h 98"/>
                <a:gd name="T8" fmla="*/ 39 w 99"/>
                <a:gd name="T9" fmla="*/ 48 h 98"/>
                <a:gd name="T10" fmla="*/ 48 w 99"/>
                <a:gd name="T11" fmla="*/ 48 h 98"/>
                <a:gd name="T12" fmla="*/ 57 w 99"/>
                <a:gd name="T13" fmla="*/ 46 h 98"/>
                <a:gd name="T14" fmla="*/ 63 w 99"/>
                <a:gd name="T15" fmla="*/ 38 h 98"/>
                <a:gd name="T16" fmla="*/ 59 w 99"/>
                <a:gd name="T17" fmla="*/ 30 h 98"/>
                <a:gd name="T18" fmla="*/ 49 w 99"/>
                <a:gd name="T19" fmla="*/ 22 h 98"/>
                <a:gd name="T20" fmla="*/ 49 w 99"/>
                <a:gd name="T21" fmla="*/ 22 h 98"/>
                <a:gd name="T22" fmla="*/ 63 w 99"/>
                <a:gd name="T23" fmla="*/ 23 h 98"/>
                <a:gd name="T24" fmla="*/ 72 w 99"/>
                <a:gd name="T25" fmla="*/ 37 h 98"/>
                <a:gd name="T26" fmla="*/ 66 w 99"/>
                <a:gd name="T27" fmla="*/ 48 h 98"/>
                <a:gd name="T28" fmla="*/ 59 w 99"/>
                <a:gd name="T29" fmla="*/ 51 h 98"/>
                <a:gd name="T30" fmla="*/ 68 w 99"/>
                <a:gd name="T31" fmla="*/ 56 h 98"/>
                <a:gd name="T32" fmla="*/ 71 w 99"/>
                <a:gd name="T33" fmla="*/ 64 h 98"/>
                <a:gd name="T34" fmla="*/ 71 w 99"/>
                <a:gd name="T35" fmla="*/ 68 h 98"/>
                <a:gd name="T36" fmla="*/ 71 w 99"/>
                <a:gd name="T37" fmla="*/ 72 h 98"/>
                <a:gd name="T38" fmla="*/ 72 w 99"/>
                <a:gd name="T39" fmla="*/ 75 h 98"/>
                <a:gd name="T40" fmla="*/ 72 w 99"/>
                <a:gd name="T41" fmla="*/ 76 h 98"/>
                <a:gd name="T42" fmla="*/ 63 w 99"/>
                <a:gd name="T43" fmla="*/ 76 h 98"/>
                <a:gd name="T44" fmla="*/ 63 w 99"/>
                <a:gd name="T45" fmla="*/ 75 h 98"/>
                <a:gd name="T46" fmla="*/ 63 w 99"/>
                <a:gd name="T47" fmla="*/ 75 h 98"/>
                <a:gd name="T48" fmla="*/ 62 w 99"/>
                <a:gd name="T49" fmla="*/ 73 h 98"/>
                <a:gd name="T50" fmla="*/ 62 w 99"/>
                <a:gd name="T51" fmla="*/ 69 h 98"/>
                <a:gd name="T52" fmla="*/ 57 w 99"/>
                <a:gd name="T53" fmla="*/ 56 h 98"/>
                <a:gd name="T54" fmla="*/ 47 w 99"/>
                <a:gd name="T55" fmla="*/ 54 h 98"/>
                <a:gd name="T56" fmla="*/ 39 w 99"/>
                <a:gd name="T57" fmla="*/ 54 h 98"/>
                <a:gd name="T58" fmla="*/ 39 w 99"/>
                <a:gd name="T59" fmla="*/ 76 h 98"/>
                <a:gd name="T60" fmla="*/ 30 w 99"/>
                <a:gd name="T61" fmla="*/ 76 h 98"/>
                <a:gd name="T62" fmla="*/ 30 w 99"/>
                <a:gd name="T63" fmla="*/ 22 h 98"/>
                <a:gd name="T64" fmla="*/ 49 w 99"/>
                <a:gd name="T65" fmla="*/ 22 h 98"/>
                <a:gd name="T66" fmla="*/ 49 w 99"/>
                <a:gd name="T67" fmla="*/ 22 h 98"/>
                <a:gd name="T68" fmla="*/ 20 w 99"/>
                <a:gd name="T69" fmla="*/ 19 h 98"/>
                <a:gd name="T70" fmla="*/ 20 w 99"/>
                <a:gd name="T71" fmla="*/ 19 h 98"/>
                <a:gd name="T72" fmla="*/ 7 w 99"/>
                <a:gd name="T73" fmla="*/ 49 h 98"/>
                <a:gd name="T74" fmla="*/ 20 w 99"/>
                <a:gd name="T75" fmla="*/ 79 h 98"/>
                <a:gd name="T76" fmla="*/ 50 w 99"/>
                <a:gd name="T77" fmla="*/ 92 h 98"/>
                <a:gd name="T78" fmla="*/ 80 w 99"/>
                <a:gd name="T79" fmla="*/ 79 h 98"/>
                <a:gd name="T80" fmla="*/ 92 w 99"/>
                <a:gd name="T81" fmla="*/ 49 h 98"/>
                <a:gd name="T82" fmla="*/ 80 w 99"/>
                <a:gd name="T83" fmla="*/ 19 h 98"/>
                <a:gd name="T84" fmla="*/ 50 w 99"/>
                <a:gd name="T85" fmla="*/ 6 h 98"/>
                <a:gd name="T86" fmla="*/ 20 w 99"/>
                <a:gd name="T87" fmla="*/ 19 h 98"/>
                <a:gd name="T88" fmla="*/ 85 w 99"/>
                <a:gd name="T89" fmla="*/ 84 h 98"/>
                <a:gd name="T90" fmla="*/ 85 w 99"/>
                <a:gd name="T91" fmla="*/ 84 h 98"/>
                <a:gd name="T92" fmla="*/ 50 w 99"/>
                <a:gd name="T93" fmla="*/ 98 h 98"/>
                <a:gd name="T94" fmla="*/ 15 w 99"/>
                <a:gd name="T95" fmla="*/ 84 h 98"/>
                <a:gd name="T96" fmla="*/ 0 w 99"/>
                <a:gd name="T97" fmla="*/ 49 h 98"/>
                <a:gd name="T98" fmla="*/ 15 w 99"/>
                <a:gd name="T99" fmla="*/ 14 h 98"/>
                <a:gd name="T100" fmla="*/ 50 w 99"/>
                <a:gd name="T101" fmla="*/ 0 h 98"/>
                <a:gd name="T102" fmla="*/ 85 w 99"/>
                <a:gd name="T103" fmla="*/ 14 h 98"/>
                <a:gd name="T104" fmla="*/ 99 w 99"/>
                <a:gd name="T105" fmla="*/ 49 h 98"/>
                <a:gd name="T106" fmla="*/ 85 w 99"/>
                <a:gd name="T107" fmla="*/ 8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98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2D27525A-0A31-54D0-7C3E-93C517316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9927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>
            <a:extLst>
              <a:ext uri="{FF2B5EF4-FFF2-40B4-BE49-F238E27FC236}">
                <a16:creationId xmlns:a16="http://schemas.microsoft.com/office/drawing/2014/main" id="{78140FBA-22C8-82CB-644A-2B1C6CB6D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2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62C77B-DF28-4051-A2E3-ABFF11DD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0D224-5600-42CF-8A3F-A3F90556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CAACC-95AC-47CF-8F0A-8D9A05945555}"/>
              </a:ext>
            </a:extLst>
          </p:cNvPr>
          <p:cNvSpPr/>
          <p:nvPr userDrawn="1"/>
        </p:nvSpPr>
        <p:spPr>
          <a:xfrm>
            <a:off x="-1" y="0"/>
            <a:ext cx="40990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D5233D-620A-46D6-8BB5-3F29F98748DE}"/>
              </a:ext>
            </a:extLst>
          </p:cNvPr>
          <p:cNvSpPr/>
          <p:nvPr userDrawn="1"/>
        </p:nvSpPr>
        <p:spPr>
          <a:xfrm>
            <a:off x="388056" y="754481"/>
            <a:ext cx="11803944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62443F-67A2-4292-92C0-0F5844407A90}"/>
              </a:ext>
            </a:extLst>
          </p:cNvPr>
          <p:cNvSpPr/>
          <p:nvPr userDrawn="1"/>
        </p:nvSpPr>
        <p:spPr>
          <a:xfrm>
            <a:off x="484715" y="0"/>
            <a:ext cx="45719" cy="1051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EB043-71DB-9F76-BBA9-0F47281AE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48C5-3DDC-4F9D-98BF-DAAE0B16E7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4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1524000" y="1586729"/>
            <a:ext cx="9144000" cy="21124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3200" b="1">
                <a:solidFill>
                  <a:schemeClr val="bg1"/>
                </a:solidFill>
                <a:latin typeface="+mj-ea"/>
                <a:ea typeface="+mj-ea"/>
              </a:rPr>
              <a:t>트렌드 및 </a:t>
            </a:r>
            <a:r>
              <a:rPr lang="ko-KR" altLang="en-US" sz="3200" b="1" dirty="0">
                <a:solidFill>
                  <a:schemeClr val="bg1"/>
                </a:solidFill>
                <a:latin typeface="+mj-ea"/>
                <a:ea typeface="+mj-ea"/>
              </a:rPr>
              <a:t>활용 전략</a:t>
            </a:r>
            <a:endParaRPr lang="en-US" altLang="ko-KR" sz="32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장동인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>
                <a:solidFill>
                  <a:schemeClr val="bg1"/>
                </a:solidFill>
              </a:rPr>
              <a:t>KAIST</a:t>
            </a:r>
            <a:r>
              <a:rPr lang="en-US" altLang="ko-KR" b="1" dirty="0">
                <a:solidFill>
                  <a:schemeClr val="bg1"/>
                </a:solidFill>
              </a:rPr>
              <a:t> AI </a:t>
            </a:r>
            <a:r>
              <a:rPr lang="ko-KR" altLang="en-US" b="1" dirty="0">
                <a:solidFill>
                  <a:schemeClr val="bg1"/>
                </a:solidFill>
              </a:rPr>
              <a:t>대학원 책임교수</a:t>
            </a:r>
            <a:r>
              <a:rPr lang="en-US" altLang="ko-KR" b="1" dirty="0">
                <a:solidFill>
                  <a:schemeClr val="bg1"/>
                </a:solidFill>
              </a:rPr>
              <a:t>/AIBB LAB </a:t>
            </a:r>
            <a:r>
              <a:rPr lang="ko-KR" altLang="en-US" b="1" dirty="0">
                <a:solidFill>
                  <a:schemeClr val="bg1"/>
                </a:solidFill>
              </a:rPr>
              <a:t>대표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3FF936-4C0F-29B9-86FB-8167594B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918005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057400" y="152400"/>
            <a:ext cx="8915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endParaRPr lang="ko-KR" altLang="en-US" sz="1600" b="1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12" name="AutoShape 72"/>
          <p:cNvSpPr>
            <a:spLocks noChangeArrowheads="1"/>
          </p:cNvSpPr>
          <p:nvPr/>
        </p:nvSpPr>
        <p:spPr bwMode="gray">
          <a:xfrm rot="5400000">
            <a:off x="2617054" y="-118224"/>
            <a:ext cx="246062" cy="24799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경력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1493398" y="1419491"/>
            <a:ext cx="4080412" cy="283923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,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KAIST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김재철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대학원 책임교수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(CAIO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과정 담당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, AiBB Lab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대표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(AI, Big Data, Blockchain)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연세대 의료 블록체인 고위과정 주임교수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국방과학연구소 빅데이터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/AI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과제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PM 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한국 </a:t>
            </a:r>
            <a:r>
              <a:rPr lang="ko-KR" altLang="en-US" sz="900" dirty="0" err="1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테라데이타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 부사장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미래읽기 컨설팅 대표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Ernst &amp; Young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컨설팅 본부장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Deloitte consulting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전무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(CRM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부문 파트너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  <a:endParaRPr lang="en-US" altLang="ko-KR" sz="900" dirty="0"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SAS Korea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Siebel Korea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초대 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Oracle Korea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컨설팅 본부 이사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Oracle HQ, Senior Principal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Germany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Amadeus, System Support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American Airline Information Service,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EDS, System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VISA International, Programmer</a:t>
            </a:r>
          </a:p>
        </p:txBody>
      </p:sp>
      <p:sp>
        <p:nvSpPr>
          <p:cNvPr id="15" name="AutoShape 78"/>
          <p:cNvSpPr>
            <a:spLocks noChangeArrowheads="1"/>
          </p:cNvSpPr>
          <p:nvPr/>
        </p:nvSpPr>
        <p:spPr bwMode="gray">
          <a:xfrm rot="5400000">
            <a:off x="7424682" y="-23581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전문분야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16" name="Text Box 82"/>
          <p:cNvSpPr txBox="1">
            <a:spLocks noChangeArrowheads="1"/>
          </p:cNvSpPr>
          <p:nvPr/>
        </p:nvSpPr>
        <p:spPr bwMode="auto">
          <a:xfrm>
            <a:off x="6486212" y="1419491"/>
            <a:ext cx="3921877" cy="69865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돈되는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AI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 도입과 활용을 위한 전략컨설팅</a:t>
            </a:r>
            <a:endParaRPr lang="en-US" altLang="ko-KR" sz="90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CEO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를 위한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실무자를 위한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벤처기업 고문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/Advisor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7" name="AutoShape 78"/>
          <p:cNvSpPr>
            <a:spLocks noChangeArrowheads="1"/>
          </p:cNvSpPr>
          <p:nvPr/>
        </p:nvSpPr>
        <p:spPr bwMode="gray">
          <a:xfrm rot="5400000">
            <a:off x="7424681" y="1493837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저서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23" name="AutoShape 75"/>
          <p:cNvSpPr>
            <a:spLocks noChangeArrowheads="1"/>
          </p:cNvSpPr>
          <p:nvPr/>
        </p:nvSpPr>
        <p:spPr bwMode="gray">
          <a:xfrm rot="5400000">
            <a:off x="2618029" y="3875391"/>
            <a:ext cx="246063" cy="26252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800" b="1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학력</a:t>
            </a:r>
            <a:endParaRPr lang="en-US" altLang="en-US" sz="800" b="1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24" name="Text Box 76"/>
          <p:cNvSpPr txBox="1">
            <a:spLocks noChangeArrowheads="1"/>
          </p:cNvSpPr>
          <p:nvPr/>
        </p:nvSpPr>
        <p:spPr bwMode="auto">
          <a:xfrm>
            <a:off x="1493398" y="5460277"/>
            <a:ext cx="3741280" cy="67864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서울과학종합대학원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, 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경영학박사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(Big Data)</a:t>
            </a: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University of Southern California, </a:t>
            </a: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컴퓨터 공학 석사 졸업</a:t>
            </a:r>
            <a:endParaRPr lang="en-US" altLang="ko-KR" sz="900" dirty="0"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서울 공대 원자핵 공학과 졸업</a:t>
            </a:r>
            <a:endParaRPr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맑은 고딕" pitchFamily="50" charset="-127"/>
                <a:ea typeface="맑은 고딕" pitchFamily="50" charset="-127"/>
                <a:cs typeface="Arial" charset="0"/>
              </a:rPr>
              <a:t>용산고등학교졸업</a:t>
            </a:r>
          </a:p>
        </p:txBody>
      </p:sp>
      <p:sp>
        <p:nvSpPr>
          <p:cNvPr id="25" name="AutoShape 78">
            <a:extLst>
              <a:ext uri="{FF2B5EF4-FFF2-40B4-BE49-F238E27FC236}">
                <a16:creationId xmlns:a16="http://schemas.microsoft.com/office/drawing/2014/main" id="{4647E93B-41E3-4819-9136-CA0E392C9BD6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7424680" y="363638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자격증</a:t>
            </a:r>
            <a:endParaRPr lang="en-US" altLang="en-US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9128D67E-74FA-4CEB-960F-9166C6E528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07" y="5207560"/>
            <a:ext cx="1730341" cy="1327797"/>
          </a:xfrm>
          <a:prstGeom prst="rect">
            <a:avLst/>
          </a:prstGeom>
        </p:spPr>
      </p:pic>
      <p:sp>
        <p:nvSpPr>
          <p:cNvPr id="9" name="Text Box 82">
            <a:extLst>
              <a:ext uri="{FF2B5EF4-FFF2-40B4-BE49-F238E27FC236}">
                <a16:creationId xmlns:a16="http://schemas.microsoft.com/office/drawing/2014/main" id="{C1809002-A69A-46FB-B0B9-E40F3BD68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786" y="5655186"/>
            <a:ext cx="1993910" cy="76328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구글 텐서플로우</a:t>
            </a:r>
            <a:r>
              <a:rPr lang="en-US" altLang="ko-KR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(AI)</a:t>
            </a:r>
            <a:r>
              <a:rPr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개발자 자격증</a:t>
            </a:r>
            <a:endParaRPr lang="en-US" altLang="ko-KR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2020.5.10 </a:t>
            </a:r>
            <a:r>
              <a:rPr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합격</a:t>
            </a:r>
            <a:endParaRPr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endParaRPr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연락처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: 010-5259-9509</a:t>
            </a: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donchang0725@gmail.com</a:t>
            </a:r>
            <a:endParaRPr lang="en-US" altLang="ko-KR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367568EC-1F92-49C9-841E-AE80E25B604C}"/>
              </a:ext>
            </a:extLst>
          </p:cNvPr>
          <p:cNvSpPr txBox="1">
            <a:spLocks/>
          </p:cNvSpPr>
          <p:nvPr/>
        </p:nvSpPr>
        <p:spPr>
          <a:xfrm>
            <a:off x="1524000" y="2176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기업과 </a:t>
            </a:r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를 아는 교수</a:t>
            </a:r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장 동 인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8F81D-0AAE-4B54-9BBB-2BF4C59261C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 descr="공피고아1.jpg">
            <a:extLst>
              <a:ext uri="{FF2B5EF4-FFF2-40B4-BE49-F238E27FC236}">
                <a16:creationId xmlns:a16="http://schemas.microsoft.com/office/drawing/2014/main" id="{06BE0365-8A99-4934-A48E-792DB7F1217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45927" y="3177657"/>
            <a:ext cx="840520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08BBA4B6-4987-42EF-8F13-727082EC2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41761" y="4503512"/>
            <a:ext cx="844686" cy="1113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D91DB7B-0B6E-4BCE-8A28-25F5A3865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28" y="3177657"/>
            <a:ext cx="754342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E56E2C6-7D19-4CC6-8C5A-6026070A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925" y="3177657"/>
            <a:ext cx="753146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47D50C41-8B8A-4099-A3F5-1A65377FE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60" y="3177657"/>
            <a:ext cx="822708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인간의 얼굴, 미소, 사람, 인물사진이(가) 표시된 사진&#10;&#10;자동 생성된 설명">
            <a:extLst>
              <a:ext uri="{FF2B5EF4-FFF2-40B4-BE49-F238E27FC236}">
                <a16:creationId xmlns:a16="http://schemas.microsoft.com/office/drawing/2014/main" id="{916139AB-DE78-F27F-1465-F180D60F9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721" y="-15308"/>
            <a:ext cx="1123763" cy="136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C9D496-F698-D5FB-4733-890FC25106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0802" y="3165430"/>
            <a:ext cx="767132" cy="1138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991447-524D-1E52-EF9A-8BFCDF20C0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195" y="3177657"/>
            <a:ext cx="847349" cy="111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8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E80123-249D-9BDD-1454-90CDFC98F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244" y="12116"/>
            <a:ext cx="576755" cy="365125"/>
          </a:xfrm>
        </p:spPr>
        <p:txBody>
          <a:bodyPr/>
          <a:lstStyle/>
          <a:p>
            <a:fld id="{92D748C5-3DDC-4F9D-98BF-DAAE0B16E7B0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742AD49-F3F5-9543-CB61-236457781AAF}"/>
              </a:ext>
            </a:extLst>
          </p:cNvPr>
          <p:cNvSpPr txBox="1">
            <a:spLocks/>
          </p:cNvSpPr>
          <p:nvPr/>
        </p:nvSpPr>
        <p:spPr>
          <a:xfrm>
            <a:off x="1524000" y="2176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headline </a:t>
            </a: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24pt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96A01-BC43-4C9B-5082-EFEA76EF0602}"/>
              </a:ext>
            </a:extLst>
          </p:cNvPr>
          <p:cNvSpPr txBox="1"/>
          <p:nvPr/>
        </p:nvSpPr>
        <p:spPr>
          <a:xfrm>
            <a:off x="1923394" y="1596258"/>
            <a:ext cx="951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/>
              <a:t>내용은 </a:t>
            </a:r>
            <a:r>
              <a:rPr lang="en-US" altLang="ko-KR" sz="1400"/>
              <a:t>bullet + </a:t>
            </a:r>
            <a:r>
              <a:rPr lang="ko-KR" altLang="en-US" sz="1400"/>
              <a:t>맑은고딕 </a:t>
            </a:r>
            <a:r>
              <a:rPr lang="en-US" altLang="ko-KR" sz="1400"/>
              <a:t>14pt</a:t>
            </a:r>
            <a:endParaRPr lang="ko-KR" alt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02C80-EE48-D803-C2C3-57652FCF993F}"/>
              </a:ext>
            </a:extLst>
          </p:cNvPr>
          <p:cNvSpPr txBox="1"/>
          <p:nvPr/>
        </p:nvSpPr>
        <p:spPr>
          <a:xfrm>
            <a:off x="1154824" y="1020817"/>
            <a:ext cx="464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600"/>
              <a:t>소제목 </a:t>
            </a:r>
            <a:r>
              <a:rPr lang="en-US" altLang="ko-KR" sz="1600"/>
              <a:t>16 pt</a:t>
            </a:r>
            <a:endParaRPr lang="ko-KR" altLang="en-US" sz="16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38C01F-DAFB-3957-4577-ACBC7936703B}"/>
              </a:ext>
            </a:extLst>
          </p:cNvPr>
          <p:cNvSpPr/>
          <p:nvPr/>
        </p:nvSpPr>
        <p:spPr>
          <a:xfrm>
            <a:off x="1524000" y="2995448"/>
            <a:ext cx="3272659" cy="14661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다이그램 </a:t>
            </a:r>
            <a:r>
              <a:rPr lang="en-US" altLang="ko-KR" sz="1400"/>
              <a:t>(</a:t>
            </a:r>
            <a:r>
              <a:rPr lang="ko-KR" altLang="en-US" sz="1400"/>
              <a:t>보통</a:t>
            </a:r>
            <a:r>
              <a:rPr lang="en-US" altLang="ko-KR" sz="1400"/>
              <a:t>)</a:t>
            </a:r>
          </a:p>
          <a:p>
            <a:pPr algn="ctr"/>
            <a:r>
              <a:rPr lang="ko-KR" altLang="en-US" sz="1400"/>
              <a:t>맑은고딕 </a:t>
            </a:r>
            <a:r>
              <a:rPr lang="en-US" altLang="ko-KR" sz="1400"/>
              <a:t>14 pt</a:t>
            </a:r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B23053-2952-DBA3-4912-7CF0D44822A1}"/>
              </a:ext>
            </a:extLst>
          </p:cNvPr>
          <p:cNvSpPr/>
          <p:nvPr/>
        </p:nvSpPr>
        <p:spPr>
          <a:xfrm>
            <a:off x="6997262" y="2995447"/>
            <a:ext cx="3272659" cy="14661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다이그램 </a:t>
            </a:r>
            <a:r>
              <a:rPr lang="en-US" altLang="ko-KR" sz="1400"/>
              <a:t>(</a:t>
            </a:r>
            <a:r>
              <a:rPr lang="ko-KR" altLang="en-US" sz="1400"/>
              <a:t>강조</a:t>
            </a:r>
            <a:r>
              <a:rPr lang="en-US" altLang="ko-KR" sz="1400"/>
              <a:t>)</a:t>
            </a:r>
          </a:p>
          <a:p>
            <a:pPr algn="ctr"/>
            <a:r>
              <a:rPr lang="ko-KR" altLang="en-US" sz="1400"/>
              <a:t>맑은고딕 </a:t>
            </a:r>
            <a:r>
              <a:rPr lang="en-US" altLang="ko-KR" sz="1400"/>
              <a:t>14 pt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8864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44513</TotalTime>
  <Words>217</Words>
  <Application>Microsoft Office PowerPoint</Application>
  <PresentationFormat>와이드스크린</PresentationFormat>
  <Paragraphs>49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 don</dc:creator>
  <cp:lastModifiedBy>CHANG DON</cp:lastModifiedBy>
  <cp:revision>925</cp:revision>
  <cp:lastPrinted>2025-02-10T02:52:20Z</cp:lastPrinted>
  <dcterms:created xsi:type="dcterms:W3CDTF">2020-07-31T12:59:17Z</dcterms:created>
  <dcterms:modified xsi:type="dcterms:W3CDTF">2026-03-05T07:07:53Z</dcterms:modified>
</cp:coreProperties>
</file>