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7"/>
  </p:notesMasterIdLst>
  <p:handoutMasterIdLst>
    <p:handoutMasterId r:id="rId8"/>
  </p:handoutMasterIdLst>
  <p:sldIdLst>
    <p:sldId id="2508" r:id="rId2"/>
    <p:sldId id="1857" r:id="rId3"/>
    <p:sldId id="2671" r:id="rId4"/>
    <p:sldId id="2511" r:id="rId5"/>
    <p:sldId id="2606" r:id="rId6"/>
  </p:sldIdLst>
  <p:sldSz cx="12192000" cy="6858000"/>
  <p:notesSz cx="9875838" cy="67421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0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60" y="2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86490"/>
    </p:cViewPr>
  </p:sorterViewPr>
  <p:notesViewPr>
    <p:cSldViewPr snapToGrid="0">
      <p:cViewPr varScale="1">
        <p:scale>
          <a:sx n="203" d="100"/>
          <a:sy n="203" d="100"/>
        </p:scale>
        <p:origin x="1819" y="139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41F8D07-C816-4EA5-8632-09EE2BAB9B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529" cy="338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4388D0-BCFD-FA83-A869-2D45C26056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94024" y="0"/>
            <a:ext cx="4279529" cy="338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FAECC-ED9A-4243-A8FB-ECBE51B74931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19F4BB-B8AD-651D-12BE-20AF3E03CA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03838"/>
            <a:ext cx="4279529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408A61-9A6D-8BA0-8ABB-25C2C38585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94024" y="6403838"/>
            <a:ext cx="4279529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907A6-A91B-4253-A7BB-5098ED30E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0288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6309" y="59833"/>
            <a:ext cx="4279529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EDA1A-B315-453A-B1F2-119699FE817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슬라이드 이미지 개체 틀 7">
            <a:extLst>
              <a:ext uri="{FF2B5EF4-FFF2-40B4-BE49-F238E27FC236}">
                <a16:creationId xmlns:a16="http://schemas.microsoft.com/office/drawing/2014/main" id="{8119D33A-15A7-5300-5D81-BB27F30EFE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42963"/>
            <a:ext cx="4043362" cy="2274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687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6238" y="842963"/>
            <a:ext cx="4043362" cy="2274887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585" y="3244642"/>
            <a:ext cx="7900670" cy="2654707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03744" y="7556619"/>
            <a:ext cx="4210466" cy="397790"/>
          </a:xfrm>
          <a:prstGeom prst="rect">
            <a:avLst/>
          </a:prstGeom>
        </p:spPr>
        <p:txBody>
          <a:bodyPr/>
          <a:lstStyle/>
          <a:p>
            <a:fld id="{96188ACF-FB21-4870-9A37-E58C25E3BF2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6112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316EF-50A9-4678-9393-F382547C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2907"/>
            <a:ext cx="10515600" cy="71473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63D61E-D2B4-42E8-925E-FF7563176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85553"/>
            <a:ext cx="5157787" cy="519521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8E9BA4-FB39-4602-80C6-1C3C02873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3C81B2-EDAB-4DDE-84E0-AFF852EF5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85553"/>
            <a:ext cx="5183188" cy="519522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32B60E-A6EF-4E1E-BE20-4E34BE33C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슬라이드 번호 개체 틀 6">
            <a:extLst>
              <a:ext uri="{FF2B5EF4-FFF2-40B4-BE49-F238E27FC236}">
                <a16:creationId xmlns:a16="http://schemas.microsoft.com/office/drawing/2014/main" id="{7750FC9F-7912-E351-2A0E-64CE29C3A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33842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7BC4FF2-B026-3861-C52C-B0C3C9B7E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2907"/>
            <a:ext cx="10515600" cy="71473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C1A20C-4CB5-9B6A-21DD-838B5058D1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2582820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 noChangeAspect="1"/>
          </p:cNvGrpSpPr>
          <p:nvPr userDrawn="1"/>
        </p:nvGrpSpPr>
        <p:grpSpPr bwMode="auto">
          <a:xfrm>
            <a:off x="1325490" y="305467"/>
            <a:ext cx="1816447" cy="305001"/>
            <a:chOff x="5137" y="4139"/>
            <a:chExt cx="335" cy="75"/>
          </a:xfrm>
          <a:solidFill>
            <a:schemeClr val="bg1"/>
          </a:solidFill>
        </p:grpSpPr>
        <p:sp>
          <p:nvSpPr>
            <p:cNvPr id="8" name="Freeform 5"/>
            <p:cNvSpPr>
              <a:spLocks noEditPoints="1"/>
            </p:cNvSpPr>
            <p:nvPr userDrawn="1"/>
          </p:nvSpPr>
          <p:spPr bwMode="auto">
            <a:xfrm>
              <a:off x="5137" y="4139"/>
              <a:ext cx="324" cy="75"/>
            </a:xfrm>
            <a:custGeom>
              <a:avLst/>
              <a:gdLst>
                <a:gd name="T0" fmla="*/ 660 w 3745"/>
                <a:gd name="T1" fmla="*/ 0 h 863"/>
                <a:gd name="T2" fmla="*/ 0 w 3745"/>
                <a:gd name="T3" fmla="*/ 73 h 863"/>
                <a:gd name="T4" fmla="*/ 292 w 3745"/>
                <a:gd name="T5" fmla="*/ 804 h 863"/>
                <a:gd name="T6" fmla="*/ 399 w 3745"/>
                <a:gd name="T7" fmla="*/ 863 h 863"/>
                <a:gd name="T8" fmla="*/ 637 w 3745"/>
                <a:gd name="T9" fmla="*/ 73 h 863"/>
                <a:gd name="T10" fmla="*/ 660 w 3745"/>
                <a:gd name="T11" fmla="*/ 0 h 863"/>
                <a:gd name="T12" fmla="*/ 2673 w 3745"/>
                <a:gd name="T13" fmla="*/ 181 h 863"/>
                <a:gd name="T14" fmla="*/ 2408 w 3745"/>
                <a:gd name="T15" fmla="*/ 768 h 863"/>
                <a:gd name="T16" fmla="*/ 2522 w 3745"/>
                <a:gd name="T17" fmla="*/ 729 h 863"/>
                <a:gd name="T18" fmla="*/ 2698 w 3745"/>
                <a:gd name="T19" fmla="*/ 596 h 863"/>
                <a:gd name="T20" fmla="*/ 2590 w 3745"/>
                <a:gd name="T21" fmla="*/ 533 h 863"/>
                <a:gd name="T22" fmla="*/ 2812 w 3745"/>
                <a:gd name="T23" fmla="*/ 729 h 863"/>
                <a:gd name="T24" fmla="*/ 2941 w 3745"/>
                <a:gd name="T25" fmla="*/ 768 h 863"/>
                <a:gd name="T26" fmla="*/ 2673 w 3745"/>
                <a:gd name="T27" fmla="*/ 181 h 863"/>
                <a:gd name="T28" fmla="*/ 3529 w 3745"/>
                <a:gd name="T29" fmla="*/ 203 h 863"/>
                <a:gd name="T30" fmla="*/ 3425 w 3745"/>
                <a:gd name="T31" fmla="*/ 203 h 863"/>
                <a:gd name="T32" fmla="*/ 3252 w 3745"/>
                <a:gd name="T33" fmla="*/ 768 h 863"/>
                <a:gd name="T34" fmla="*/ 3374 w 3745"/>
                <a:gd name="T35" fmla="*/ 596 h 863"/>
                <a:gd name="T36" fmla="*/ 3483 w 3745"/>
                <a:gd name="T37" fmla="*/ 533 h 863"/>
                <a:gd name="T38" fmla="*/ 3473 w 3745"/>
                <a:gd name="T39" fmla="*/ 310 h 863"/>
                <a:gd name="T40" fmla="*/ 3695 w 3745"/>
                <a:gd name="T41" fmla="*/ 768 h 863"/>
                <a:gd name="T42" fmla="*/ 3529 w 3745"/>
                <a:gd name="T43" fmla="*/ 203 h 863"/>
                <a:gd name="T44" fmla="*/ 1655 w 3745"/>
                <a:gd name="T45" fmla="*/ 181 h 863"/>
                <a:gd name="T46" fmla="*/ 1603 w 3745"/>
                <a:gd name="T47" fmla="*/ 203 h 863"/>
                <a:gd name="T48" fmla="*/ 1247 w 3745"/>
                <a:gd name="T49" fmla="*/ 515 h 863"/>
                <a:gd name="T50" fmla="*/ 1374 w 3745"/>
                <a:gd name="T51" fmla="*/ 336 h 863"/>
                <a:gd name="T52" fmla="*/ 969 w 3745"/>
                <a:gd name="T53" fmla="*/ 189 h 863"/>
                <a:gd name="T54" fmla="*/ 737 w 3745"/>
                <a:gd name="T55" fmla="*/ 704 h 863"/>
                <a:gd name="T56" fmla="*/ 625 w 3745"/>
                <a:gd name="T57" fmla="*/ 488 h 863"/>
                <a:gd name="T58" fmla="*/ 816 w 3745"/>
                <a:gd name="T59" fmla="*/ 424 h 863"/>
                <a:gd name="T60" fmla="*/ 625 w 3745"/>
                <a:gd name="T61" fmla="*/ 253 h 863"/>
                <a:gd name="T62" fmla="*/ 897 w 3745"/>
                <a:gd name="T63" fmla="*/ 189 h 863"/>
                <a:gd name="T64" fmla="*/ 520 w 3745"/>
                <a:gd name="T65" fmla="*/ 590 h 863"/>
                <a:gd name="T66" fmla="*/ 1074 w 3745"/>
                <a:gd name="T67" fmla="*/ 766 h 863"/>
                <a:gd name="T68" fmla="*/ 1149 w 3745"/>
                <a:gd name="T69" fmla="*/ 253 h 863"/>
                <a:gd name="T70" fmla="*/ 1271 w 3745"/>
                <a:gd name="T71" fmla="*/ 387 h 863"/>
                <a:gd name="T72" fmla="*/ 1110 w 3745"/>
                <a:gd name="T73" fmla="*/ 461 h 863"/>
                <a:gd name="T74" fmla="*/ 1338 w 3745"/>
                <a:gd name="T75" fmla="*/ 768 h 863"/>
                <a:gd name="T76" fmla="*/ 1505 w 3745"/>
                <a:gd name="T77" fmla="*/ 729 h 863"/>
                <a:gd name="T78" fmla="*/ 1680 w 3745"/>
                <a:gd name="T79" fmla="*/ 596 h 863"/>
                <a:gd name="T80" fmla="*/ 1573 w 3745"/>
                <a:gd name="T81" fmla="*/ 533 h 863"/>
                <a:gd name="T82" fmla="*/ 1795 w 3745"/>
                <a:gd name="T83" fmla="*/ 729 h 863"/>
                <a:gd name="T84" fmla="*/ 1923 w 3745"/>
                <a:gd name="T85" fmla="*/ 768 h 863"/>
                <a:gd name="T86" fmla="*/ 1655 w 3745"/>
                <a:gd name="T87" fmla="*/ 181 h 863"/>
                <a:gd name="T88" fmla="*/ 2304 w 3745"/>
                <a:gd name="T89" fmla="*/ 530 h 863"/>
                <a:gd name="T90" fmla="*/ 2068 w 3745"/>
                <a:gd name="T91" fmla="*/ 704 h 863"/>
                <a:gd name="T92" fmla="*/ 2159 w 3745"/>
                <a:gd name="T93" fmla="*/ 253 h 863"/>
                <a:gd name="T94" fmla="*/ 2304 w 3745"/>
                <a:gd name="T95" fmla="*/ 530 h 863"/>
                <a:gd name="T96" fmla="*/ 2409 w 3745"/>
                <a:gd name="T97" fmla="*/ 432 h 863"/>
                <a:gd name="T98" fmla="*/ 2159 w 3745"/>
                <a:gd name="T99" fmla="*/ 189 h 863"/>
                <a:gd name="T100" fmla="*/ 1963 w 3745"/>
                <a:gd name="T101" fmla="*/ 709 h 863"/>
                <a:gd name="T102" fmla="*/ 2159 w 3745"/>
                <a:gd name="T103" fmla="*/ 768 h 863"/>
                <a:gd name="T104" fmla="*/ 2409 w 3745"/>
                <a:gd name="T105" fmla="*/ 530 h 863"/>
                <a:gd name="T106" fmla="*/ 2409 w 3745"/>
                <a:gd name="T107" fmla="*/ 432 h 863"/>
                <a:gd name="T108" fmla="*/ 3332 w 3745"/>
                <a:gd name="T109" fmla="*/ 190 h 863"/>
                <a:gd name="T110" fmla="*/ 2831 w 3745"/>
                <a:gd name="T111" fmla="*/ 254 h 863"/>
                <a:gd name="T112" fmla="*/ 3028 w 3745"/>
                <a:gd name="T113" fmla="*/ 710 h 863"/>
                <a:gd name="T114" fmla="*/ 3135 w 3745"/>
                <a:gd name="T115" fmla="*/ 768 h 863"/>
                <a:gd name="T116" fmla="*/ 3313 w 3745"/>
                <a:gd name="T117" fmla="*/ 254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745" h="863">
                  <a:moveTo>
                    <a:pt x="660" y="0"/>
                  </a:moveTo>
                  <a:lnTo>
                    <a:pt x="660" y="0"/>
                  </a:lnTo>
                  <a:lnTo>
                    <a:pt x="22" y="0"/>
                  </a:lnTo>
                  <a:lnTo>
                    <a:pt x="0" y="73"/>
                  </a:lnTo>
                  <a:lnTo>
                    <a:pt x="292" y="73"/>
                  </a:lnTo>
                  <a:lnTo>
                    <a:pt x="292" y="804"/>
                  </a:lnTo>
                  <a:cubicBezTo>
                    <a:pt x="292" y="843"/>
                    <a:pt x="316" y="863"/>
                    <a:pt x="360" y="863"/>
                  </a:cubicBezTo>
                  <a:lnTo>
                    <a:pt x="399" y="863"/>
                  </a:lnTo>
                  <a:lnTo>
                    <a:pt x="399" y="73"/>
                  </a:lnTo>
                  <a:lnTo>
                    <a:pt x="637" y="73"/>
                  </a:lnTo>
                  <a:lnTo>
                    <a:pt x="660" y="0"/>
                  </a:lnTo>
                  <a:lnTo>
                    <a:pt x="660" y="0"/>
                  </a:lnTo>
                  <a:close/>
                  <a:moveTo>
                    <a:pt x="2673" y="181"/>
                  </a:moveTo>
                  <a:lnTo>
                    <a:pt x="2673" y="181"/>
                  </a:lnTo>
                  <a:cubicBezTo>
                    <a:pt x="2647" y="181"/>
                    <a:pt x="2626" y="190"/>
                    <a:pt x="2621" y="203"/>
                  </a:cubicBezTo>
                  <a:lnTo>
                    <a:pt x="2408" y="768"/>
                  </a:lnTo>
                  <a:lnTo>
                    <a:pt x="2448" y="768"/>
                  </a:lnTo>
                  <a:cubicBezTo>
                    <a:pt x="2491" y="768"/>
                    <a:pt x="2509" y="764"/>
                    <a:pt x="2522" y="729"/>
                  </a:cubicBezTo>
                  <a:lnTo>
                    <a:pt x="2570" y="596"/>
                  </a:lnTo>
                  <a:lnTo>
                    <a:pt x="2698" y="596"/>
                  </a:lnTo>
                  <a:lnTo>
                    <a:pt x="2679" y="533"/>
                  </a:lnTo>
                  <a:lnTo>
                    <a:pt x="2590" y="533"/>
                  </a:lnTo>
                  <a:lnTo>
                    <a:pt x="2669" y="310"/>
                  </a:lnTo>
                  <a:lnTo>
                    <a:pt x="2812" y="729"/>
                  </a:lnTo>
                  <a:cubicBezTo>
                    <a:pt x="2824" y="764"/>
                    <a:pt x="2845" y="768"/>
                    <a:pt x="2891" y="768"/>
                  </a:cubicBezTo>
                  <a:lnTo>
                    <a:pt x="2941" y="768"/>
                  </a:lnTo>
                  <a:lnTo>
                    <a:pt x="2725" y="203"/>
                  </a:lnTo>
                  <a:cubicBezTo>
                    <a:pt x="2720" y="190"/>
                    <a:pt x="2697" y="181"/>
                    <a:pt x="2673" y="181"/>
                  </a:cubicBezTo>
                  <a:close/>
                  <a:moveTo>
                    <a:pt x="3529" y="203"/>
                  </a:moveTo>
                  <a:lnTo>
                    <a:pt x="3529" y="203"/>
                  </a:lnTo>
                  <a:cubicBezTo>
                    <a:pt x="3524" y="190"/>
                    <a:pt x="3501" y="181"/>
                    <a:pt x="3477" y="181"/>
                  </a:cubicBezTo>
                  <a:cubicBezTo>
                    <a:pt x="3451" y="181"/>
                    <a:pt x="3430" y="190"/>
                    <a:pt x="3425" y="203"/>
                  </a:cubicBezTo>
                  <a:lnTo>
                    <a:pt x="3212" y="768"/>
                  </a:lnTo>
                  <a:lnTo>
                    <a:pt x="3252" y="768"/>
                  </a:lnTo>
                  <a:cubicBezTo>
                    <a:pt x="3294" y="768"/>
                    <a:pt x="3313" y="764"/>
                    <a:pt x="3326" y="729"/>
                  </a:cubicBezTo>
                  <a:lnTo>
                    <a:pt x="3374" y="596"/>
                  </a:lnTo>
                  <a:lnTo>
                    <a:pt x="3502" y="596"/>
                  </a:lnTo>
                  <a:lnTo>
                    <a:pt x="3483" y="533"/>
                  </a:lnTo>
                  <a:lnTo>
                    <a:pt x="3394" y="533"/>
                  </a:lnTo>
                  <a:lnTo>
                    <a:pt x="3473" y="310"/>
                  </a:lnTo>
                  <a:lnTo>
                    <a:pt x="3616" y="729"/>
                  </a:lnTo>
                  <a:cubicBezTo>
                    <a:pt x="3628" y="764"/>
                    <a:pt x="3649" y="768"/>
                    <a:pt x="3695" y="768"/>
                  </a:cubicBezTo>
                  <a:lnTo>
                    <a:pt x="3745" y="768"/>
                  </a:lnTo>
                  <a:lnTo>
                    <a:pt x="3529" y="203"/>
                  </a:lnTo>
                  <a:lnTo>
                    <a:pt x="3529" y="203"/>
                  </a:lnTo>
                  <a:close/>
                  <a:moveTo>
                    <a:pt x="1655" y="181"/>
                  </a:moveTo>
                  <a:lnTo>
                    <a:pt x="1655" y="181"/>
                  </a:lnTo>
                  <a:cubicBezTo>
                    <a:pt x="1630" y="181"/>
                    <a:pt x="1608" y="190"/>
                    <a:pt x="1603" y="203"/>
                  </a:cubicBezTo>
                  <a:lnTo>
                    <a:pt x="1399" y="746"/>
                  </a:lnTo>
                  <a:lnTo>
                    <a:pt x="1247" y="515"/>
                  </a:lnTo>
                  <a:cubicBezTo>
                    <a:pt x="1327" y="501"/>
                    <a:pt x="1374" y="459"/>
                    <a:pt x="1374" y="387"/>
                  </a:cubicBezTo>
                  <a:lnTo>
                    <a:pt x="1374" y="336"/>
                  </a:lnTo>
                  <a:cubicBezTo>
                    <a:pt x="1374" y="232"/>
                    <a:pt x="1277" y="189"/>
                    <a:pt x="1149" y="189"/>
                  </a:cubicBezTo>
                  <a:lnTo>
                    <a:pt x="969" y="189"/>
                  </a:lnTo>
                  <a:lnTo>
                    <a:pt x="969" y="704"/>
                  </a:lnTo>
                  <a:lnTo>
                    <a:pt x="737" y="704"/>
                  </a:lnTo>
                  <a:cubicBezTo>
                    <a:pt x="646" y="704"/>
                    <a:pt x="625" y="684"/>
                    <a:pt x="625" y="590"/>
                  </a:cubicBezTo>
                  <a:lnTo>
                    <a:pt x="625" y="488"/>
                  </a:lnTo>
                  <a:lnTo>
                    <a:pt x="797" y="488"/>
                  </a:lnTo>
                  <a:lnTo>
                    <a:pt x="816" y="424"/>
                  </a:lnTo>
                  <a:lnTo>
                    <a:pt x="625" y="424"/>
                  </a:lnTo>
                  <a:lnTo>
                    <a:pt x="625" y="253"/>
                  </a:lnTo>
                  <a:lnTo>
                    <a:pt x="878" y="253"/>
                  </a:lnTo>
                  <a:lnTo>
                    <a:pt x="897" y="189"/>
                  </a:lnTo>
                  <a:lnTo>
                    <a:pt x="520" y="189"/>
                  </a:lnTo>
                  <a:lnTo>
                    <a:pt x="520" y="590"/>
                  </a:lnTo>
                  <a:cubicBezTo>
                    <a:pt x="520" y="724"/>
                    <a:pt x="552" y="768"/>
                    <a:pt x="735" y="768"/>
                  </a:cubicBezTo>
                  <a:lnTo>
                    <a:pt x="1074" y="766"/>
                  </a:lnTo>
                  <a:lnTo>
                    <a:pt x="1074" y="253"/>
                  </a:lnTo>
                  <a:lnTo>
                    <a:pt x="1149" y="253"/>
                  </a:lnTo>
                  <a:cubicBezTo>
                    <a:pt x="1230" y="253"/>
                    <a:pt x="1271" y="282"/>
                    <a:pt x="1271" y="337"/>
                  </a:cubicBezTo>
                  <a:lnTo>
                    <a:pt x="1271" y="387"/>
                  </a:lnTo>
                  <a:cubicBezTo>
                    <a:pt x="1271" y="443"/>
                    <a:pt x="1220" y="461"/>
                    <a:pt x="1157" y="461"/>
                  </a:cubicBezTo>
                  <a:lnTo>
                    <a:pt x="1110" y="461"/>
                  </a:lnTo>
                  <a:lnTo>
                    <a:pt x="1269" y="733"/>
                  </a:lnTo>
                  <a:cubicBezTo>
                    <a:pt x="1287" y="765"/>
                    <a:pt x="1296" y="768"/>
                    <a:pt x="1338" y="768"/>
                  </a:cubicBezTo>
                  <a:lnTo>
                    <a:pt x="1430" y="768"/>
                  </a:lnTo>
                  <a:cubicBezTo>
                    <a:pt x="1473" y="768"/>
                    <a:pt x="1492" y="764"/>
                    <a:pt x="1505" y="729"/>
                  </a:cubicBezTo>
                  <a:lnTo>
                    <a:pt x="1552" y="596"/>
                  </a:lnTo>
                  <a:lnTo>
                    <a:pt x="1680" y="596"/>
                  </a:lnTo>
                  <a:lnTo>
                    <a:pt x="1661" y="533"/>
                  </a:lnTo>
                  <a:lnTo>
                    <a:pt x="1573" y="533"/>
                  </a:lnTo>
                  <a:lnTo>
                    <a:pt x="1652" y="310"/>
                  </a:lnTo>
                  <a:lnTo>
                    <a:pt x="1795" y="729"/>
                  </a:lnTo>
                  <a:cubicBezTo>
                    <a:pt x="1807" y="764"/>
                    <a:pt x="1827" y="768"/>
                    <a:pt x="1873" y="768"/>
                  </a:cubicBezTo>
                  <a:lnTo>
                    <a:pt x="1923" y="768"/>
                  </a:lnTo>
                  <a:lnTo>
                    <a:pt x="1707" y="203"/>
                  </a:lnTo>
                  <a:cubicBezTo>
                    <a:pt x="1702" y="190"/>
                    <a:pt x="1679" y="181"/>
                    <a:pt x="1655" y="181"/>
                  </a:cubicBezTo>
                  <a:close/>
                  <a:moveTo>
                    <a:pt x="2304" y="530"/>
                  </a:moveTo>
                  <a:lnTo>
                    <a:pt x="2304" y="530"/>
                  </a:lnTo>
                  <a:cubicBezTo>
                    <a:pt x="2304" y="647"/>
                    <a:pt x="2266" y="704"/>
                    <a:pt x="2162" y="704"/>
                  </a:cubicBezTo>
                  <a:lnTo>
                    <a:pt x="2068" y="704"/>
                  </a:lnTo>
                  <a:lnTo>
                    <a:pt x="2068" y="253"/>
                  </a:lnTo>
                  <a:lnTo>
                    <a:pt x="2159" y="253"/>
                  </a:lnTo>
                  <a:cubicBezTo>
                    <a:pt x="2266" y="253"/>
                    <a:pt x="2304" y="316"/>
                    <a:pt x="2304" y="433"/>
                  </a:cubicBezTo>
                  <a:lnTo>
                    <a:pt x="2304" y="530"/>
                  </a:lnTo>
                  <a:lnTo>
                    <a:pt x="2304" y="530"/>
                  </a:lnTo>
                  <a:close/>
                  <a:moveTo>
                    <a:pt x="2409" y="432"/>
                  </a:moveTo>
                  <a:lnTo>
                    <a:pt x="2409" y="432"/>
                  </a:lnTo>
                  <a:cubicBezTo>
                    <a:pt x="2409" y="270"/>
                    <a:pt x="2326" y="189"/>
                    <a:pt x="2159" y="189"/>
                  </a:cubicBezTo>
                  <a:lnTo>
                    <a:pt x="1963" y="189"/>
                  </a:lnTo>
                  <a:lnTo>
                    <a:pt x="1963" y="709"/>
                  </a:lnTo>
                  <a:cubicBezTo>
                    <a:pt x="1963" y="748"/>
                    <a:pt x="1984" y="768"/>
                    <a:pt x="2029" y="768"/>
                  </a:cubicBezTo>
                  <a:lnTo>
                    <a:pt x="2159" y="768"/>
                  </a:lnTo>
                  <a:lnTo>
                    <a:pt x="2180" y="767"/>
                  </a:lnTo>
                  <a:cubicBezTo>
                    <a:pt x="2337" y="761"/>
                    <a:pt x="2409" y="693"/>
                    <a:pt x="2409" y="530"/>
                  </a:cubicBezTo>
                  <a:lnTo>
                    <a:pt x="2409" y="432"/>
                  </a:lnTo>
                  <a:lnTo>
                    <a:pt x="2409" y="432"/>
                  </a:lnTo>
                  <a:close/>
                  <a:moveTo>
                    <a:pt x="3332" y="190"/>
                  </a:moveTo>
                  <a:lnTo>
                    <a:pt x="3332" y="190"/>
                  </a:lnTo>
                  <a:lnTo>
                    <a:pt x="2851" y="190"/>
                  </a:lnTo>
                  <a:lnTo>
                    <a:pt x="2831" y="254"/>
                  </a:lnTo>
                  <a:lnTo>
                    <a:pt x="3028" y="254"/>
                  </a:lnTo>
                  <a:lnTo>
                    <a:pt x="3028" y="710"/>
                  </a:lnTo>
                  <a:cubicBezTo>
                    <a:pt x="3028" y="749"/>
                    <a:pt x="3052" y="768"/>
                    <a:pt x="3096" y="768"/>
                  </a:cubicBezTo>
                  <a:lnTo>
                    <a:pt x="3135" y="768"/>
                  </a:lnTo>
                  <a:lnTo>
                    <a:pt x="3135" y="254"/>
                  </a:lnTo>
                  <a:lnTo>
                    <a:pt x="3313" y="254"/>
                  </a:lnTo>
                  <a:lnTo>
                    <a:pt x="3332" y="19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5464" y="4197"/>
              <a:ext cx="8" cy="9"/>
            </a:xfrm>
            <a:custGeom>
              <a:avLst/>
              <a:gdLst>
                <a:gd name="T0" fmla="*/ 59 w 99"/>
                <a:gd name="T1" fmla="*/ 30 h 98"/>
                <a:gd name="T2" fmla="*/ 59 w 99"/>
                <a:gd name="T3" fmla="*/ 30 h 98"/>
                <a:gd name="T4" fmla="*/ 47 w 99"/>
                <a:gd name="T5" fmla="*/ 28 h 98"/>
                <a:gd name="T6" fmla="*/ 39 w 99"/>
                <a:gd name="T7" fmla="*/ 28 h 98"/>
                <a:gd name="T8" fmla="*/ 39 w 99"/>
                <a:gd name="T9" fmla="*/ 48 h 98"/>
                <a:gd name="T10" fmla="*/ 48 w 99"/>
                <a:gd name="T11" fmla="*/ 48 h 98"/>
                <a:gd name="T12" fmla="*/ 57 w 99"/>
                <a:gd name="T13" fmla="*/ 46 h 98"/>
                <a:gd name="T14" fmla="*/ 63 w 99"/>
                <a:gd name="T15" fmla="*/ 38 h 98"/>
                <a:gd name="T16" fmla="*/ 59 w 99"/>
                <a:gd name="T17" fmla="*/ 30 h 98"/>
                <a:gd name="T18" fmla="*/ 49 w 99"/>
                <a:gd name="T19" fmla="*/ 22 h 98"/>
                <a:gd name="T20" fmla="*/ 49 w 99"/>
                <a:gd name="T21" fmla="*/ 22 h 98"/>
                <a:gd name="T22" fmla="*/ 63 w 99"/>
                <a:gd name="T23" fmla="*/ 23 h 98"/>
                <a:gd name="T24" fmla="*/ 72 w 99"/>
                <a:gd name="T25" fmla="*/ 37 h 98"/>
                <a:gd name="T26" fmla="*/ 66 w 99"/>
                <a:gd name="T27" fmla="*/ 48 h 98"/>
                <a:gd name="T28" fmla="*/ 59 w 99"/>
                <a:gd name="T29" fmla="*/ 51 h 98"/>
                <a:gd name="T30" fmla="*/ 68 w 99"/>
                <a:gd name="T31" fmla="*/ 56 h 98"/>
                <a:gd name="T32" fmla="*/ 71 w 99"/>
                <a:gd name="T33" fmla="*/ 64 h 98"/>
                <a:gd name="T34" fmla="*/ 71 w 99"/>
                <a:gd name="T35" fmla="*/ 68 h 98"/>
                <a:gd name="T36" fmla="*/ 71 w 99"/>
                <a:gd name="T37" fmla="*/ 72 h 98"/>
                <a:gd name="T38" fmla="*/ 72 w 99"/>
                <a:gd name="T39" fmla="*/ 75 h 98"/>
                <a:gd name="T40" fmla="*/ 72 w 99"/>
                <a:gd name="T41" fmla="*/ 76 h 98"/>
                <a:gd name="T42" fmla="*/ 63 w 99"/>
                <a:gd name="T43" fmla="*/ 76 h 98"/>
                <a:gd name="T44" fmla="*/ 63 w 99"/>
                <a:gd name="T45" fmla="*/ 75 h 98"/>
                <a:gd name="T46" fmla="*/ 63 w 99"/>
                <a:gd name="T47" fmla="*/ 75 h 98"/>
                <a:gd name="T48" fmla="*/ 62 w 99"/>
                <a:gd name="T49" fmla="*/ 73 h 98"/>
                <a:gd name="T50" fmla="*/ 62 w 99"/>
                <a:gd name="T51" fmla="*/ 69 h 98"/>
                <a:gd name="T52" fmla="*/ 57 w 99"/>
                <a:gd name="T53" fmla="*/ 56 h 98"/>
                <a:gd name="T54" fmla="*/ 47 w 99"/>
                <a:gd name="T55" fmla="*/ 54 h 98"/>
                <a:gd name="T56" fmla="*/ 39 w 99"/>
                <a:gd name="T57" fmla="*/ 54 h 98"/>
                <a:gd name="T58" fmla="*/ 39 w 99"/>
                <a:gd name="T59" fmla="*/ 76 h 98"/>
                <a:gd name="T60" fmla="*/ 30 w 99"/>
                <a:gd name="T61" fmla="*/ 76 h 98"/>
                <a:gd name="T62" fmla="*/ 30 w 99"/>
                <a:gd name="T63" fmla="*/ 22 h 98"/>
                <a:gd name="T64" fmla="*/ 49 w 99"/>
                <a:gd name="T65" fmla="*/ 22 h 98"/>
                <a:gd name="T66" fmla="*/ 49 w 99"/>
                <a:gd name="T67" fmla="*/ 22 h 98"/>
                <a:gd name="T68" fmla="*/ 20 w 99"/>
                <a:gd name="T69" fmla="*/ 19 h 98"/>
                <a:gd name="T70" fmla="*/ 20 w 99"/>
                <a:gd name="T71" fmla="*/ 19 h 98"/>
                <a:gd name="T72" fmla="*/ 7 w 99"/>
                <a:gd name="T73" fmla="*/ 49 h 98"/>
                <a:gd name="T74" fmla="*/ 20 w 99"/>
                <a:gd name="T75" fmla="*/ 79 h 98"/>
                <a:gd name="T76" fmla="*/ 50 w 99"/>
                <a:gd name="T77" fmla="*/ 92 h 98"/>
                <a:gd name="T78" fmla="*/ 80 w 99"/>
                <a:gd name="T79" fmla="*/ 79 h 98"/>
                <a:gd name="T80" fmla="*/ 92 w 99"/>
                <a:gd name="T81" fmla="*/ 49 h 98"/>
                <a:gd name="T82" fmla="*/ 80 w 99"/>
                <a:gd name="T83" fmla="*/ 19 h 98"/>
                <a:gd name="T84" fmla="*/ 50 w 99"/>
                <a:gd name="T85" fmla="*/ 6 h 98"/>
                <a:gd name="T86" fmla="*/ 20 w 99"/>
                <a:gd name="T87" fmla="*/ 19 h 98"/>
                <a:gd name="T88" fmla="*/ 85 w 99"/>
                <a:gd name="T89" fmla="*/ 84 h 98"/>
                <a:gd name="T90" fmla="*/ 85 w 99"/>
                <a:gd name="T91" fmla="*/ 84 h 98"/>
                <a:gd name="T92" fmla="*/ 50 w 99"/>
                <a:gd name="T93" fmla="*/ 98 h 98"/>
                <a:gd name="T94" fmla="*/ 15 w 99"/>
                <a:gd name="T95" fmla="*/ 84 h 98"/>
                <a:gd name="T96" fmla="*/ 0 w 99"/>
                <a:gd name="T97" fmla="*/ 49 h 98"/>
                <a:gd name="T98" fmla="*/ 15 w 99"/>
                <a:gd name="T99" fmla="*/ 14 h 98"/>
                <a:gd name="T100" fmla="*/ 50 w 99"/>
                <a:gd name="T101" fmla="*/ 0 h 98"/>
                <a:gd name="T102" fmla="*/ 85 w 99"/>
                <a:gd name="T103" fmla="*/ 14 h 98"/>
                <a:gd name="T104" fmla="*/ 99 w 99"/>
                <a:gd name="T105" fmla="*/ 49 h 98"/>
                <a:gd name="T106" fmla="*/ 85 w 99"/>
                <a:gd name="T107" fmla="*/ 8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98">
                  <a:moveTo>
                    <a:pt x="59" y="30"/>
                  </a:moveTo>
                  <a:lnTo>
                    <a:pt x="59" y="30"/>
                  </a:lnTo>
                  <a:cubicBezTo>
                    <a:pt x="57" y="29"/>
                    <a:pt x="53" y="28"/>
                    <a:pt x="47" y="28"/>
                  </a:cubicBezTo>
                  <a:lnTo>
                    <a:pt x="39" y="28"/>
                  </a:lnTo>
                  <a:lnTo>
                    <a:pt x="39" y="48"/>
                  </a:lnTo>
                  <a:lnTo>
                    <a:pt x="48" y="48"/>
                  </a:lnTo>
                  <a:cubicBezTo>
                    <a:pt x="52" y="48"/>
                    <a:pt x="55" y="47"/>
                    <a:pt x="57" y="46"/>
                  </a:cubicBezTo>
                  <a:cubicBezTo>
                    <a:pt x="61" y="45"/>
                    <a:pt x="63" y="42"/>
                    <a:pt x="63" y="38"/>
                  </a:cubicBezTo>
                  <a:cubicBezTo>
                    <a:pt x="63" y="34"/>
                    <a:pt x="61" y="31"/>
                    <a:pt x="59" y="30"/>
                  </a:cubicBezTo>
                  <a:close/>
                  <a:moveTo>
                    <a:pt x="49" y="22"/>
                  </a:moveTo>
                  <a:lnTo>
                    <a:pt x="49" y="22"/>
                  </a:lnTo>
                  <a:cubicBezTo>
                    <a:pt x="55" y="22"/>
                    <a:pt x="60" y="22"/>
                    <a:pt x="63" y="23"/>
                  </a:cubicBezTo>
                  <a:cubicBezTo>
                    <a:pt x="69" y="26"/>
                    <a:pt x="72" y="30"/>
                    <a:pt x="72" y="37"/>
                  </a:cubicBezTo>
                  <a:cubicBezTo>
                    <a:pt x="72" y="42"/>
                    <a:pt x="70" y="46"/>
                    <a:pt x="66" y="48"/>
                  </a:cubicBezTo>
                  <a:cubicBezTo>
                    <a:pt x="65" y="49"/>
                    <a:pt x="62" y="50"/>
                    <a:pt x="59" y="51"/>
                  </a:cubicBezTo>
                  <a:cubicBezTo>
                    <a:pt x="63" y="51"/>
                    <a:pt x="66" y="53"/>
                    <a:pt x="68" y="56"/>
                  </a:cubicBezTo>
                  <a:cubicBezTo>
                    <a:pt x="70" y="59"/>
                    <a:pt x="71" y="62"/>
                    <a:pt x="71" y="64"/>
                  </a:cubicBezTo>
                  <a:lnTo>
                    <a:pt x="71" y="68"/>
                  </a:lnTo>
                  <a:cubicBezTo>
                    <a:pt x="71" y="69"/>
                    <a:pt x="71" y="71"/>
                    <a:pt x="71" y="72"/>
                  </a:cubicBezTo>
                  <a:cubicBezTo>
                    <a:pt x="71" y="74"/>
                    <a:pt x="71" y="75"/>
                    <a:pt x="72" y="75"/>
                  </a:cubicBezTo>
                  <a:lnTo>
                    <a:pt x="72" y="76"/>
                  </a:lnTo>
                  <a:lnTo>
                    <a:pt x="63" y="76"/>
                  </a:lnTo>
                  <a:cubicBezTo>
                    <a:pt x="63" y="76"/>
                    <a:pt x="63" y="75"/>
                    <a:pt x="63" y="75"/>
                  </a:cubicBezTo>
                  <a:cubicBezTo>
                    <a:pt x="63" y="75"/>
                    <a:pt x="63" y="75"/>
                    <a:pt x="63" y="75"/>
                  </a:cubicBezTo>
                  <a:lnTo>
                    <a:pt x="62" y="73"/>
                  </a:lnTo>
                  <a:lnTo>
                    <a:pt x="62" y="69"/>
                  </a:lnTo>
                  <a:cubicBezTo>
                    <a:pt x="62" y="62"/>
                    <a:pt x="61" y="58"/>
                    <a:pt x="57" y="56"/>
                  </a:cubicBezTo>
                  <a:cubicBezTo>
                    <a:pt x="55" y="55"/>
                    <a:pt x="52" y="54"/>
                    <a:pt x="47" y="54"/>
                  </a:cubicBezTo>
                  <a:lnTo>
                    <a:pt x="39" y="54"/>
                  </a:lnTo>
                  <a:lnTo>
                    <a:pt x="39" y="76"/>
                  </a:lnTo>
                  <a:lnTo>
                    <a:pt x="30" y="76"/>
                  </a:lnTo>
                  <a:lnTo>
                    <a:pt x="30" y="22"/>
                  </a:lnTo>
                  <a:lnTo>
                    <a:pt x="49" y="22"/>
                  </a:lnTo>
                  <a:lnTo>
                    <a:pt x="49" y="22"/>
                  </a:lnTo>
                  <a:close/>
                  <a:moveTo>
                    <a:pt x="20" y="19"/>
                  </a:moveTo>
                  <a:lnTo>
                    <a:pt x="20" y="19"/>
                  </a:lnTo>
                  <a:cubicBezTo>
                    <a:pt x="11" y="27"/>
                    <a:pt x="7" y="37"/>
                    <a:pt x="7" y="49"/>
                  </a:cubicBezTo>
                  <a:cubicBezTo>
                    <a:pt x="7" y="61"/>
                    <a:pt x="11" y="71"/>
                    <a:pt x="20" y="79"/>
                  </a:cubicBezTo>
                  <a:cubicBezTo>
                    <a:pt x="28" y="87"/>
                    <a:pt x="38" y="92"/>
                    <a:pt x="50" y="92"/>
                  </a:cubicBezTo>
                  <a:cubicBezTo>
                    <a:pt x="61" y="92"/>
                    <a:pt x="71" y="87"/>
                    <a:pt x="80" y="79"/>
                  </a:cubicBezTo>
                  <a:cubicBezTo>
                    <a:pt x="88" y="71"/>
                    <a:pt x="92" y="61"/>
                    <a:pt x="92" y="49"/>
                  </a:cubicBezTo>
                  <a:cubicBezTo>
                    <a:pt x="92" y="37"/>
                    <a:pt x="88" y="27"/>
                    <a:pt x="80" y="19"/>
                  </a:cubicBezTo>
                  <a:cubicBezTo>
                    <a:pt x="71" y="10"/>
                    <a:pt x="61" y="6"/>
                    <a:pt x="50" y="6"/>
                  </a:cubicBezTo>
                  <a:cubicBezTo>
                    <a:pt x="38" y="6"/>
                    <a:pt x="28" y="10"/>
                    <a:pt x="20" y="19"/>
                  </a:cubicBezTo>
                  <a:close/>
                  <a:moveTo>
                    <a:pt x="85" y="84"/>
                  </a:moveTo>
                  <a:lnTo>
                    <a:pt x="85" y="84"/>
                  </a:lnTo>
                  <a:cubicBezTo>
                    <a:pt x="75" y="94"/>
                    <a:pt x="63" y="98"/>
                    <a:pt x="50" y="98"/>
                  </a:cubicBezTo>
                  <a:cubicBezTo>
                    <a:pt x="36" y="98"/>
                    <a:pt x="24" y="94"/>
                    <a:pt x="15" y="84"/>
                  </a:cubicBezTo>
                  <a:cubicBezTo>
                    <a:pt x="5" y="74"/>
                    <a:pt x="0" y="63"/>
                    <a:pt x="0" y="49"/>
                  </a:cubicBezTo>
                  <a:cubicBezTo>
                    <a:pt x="0" y="35"/>
                    <a:pt x="5" y="24"/>
                    <a:pt x="15" y="14"/>
                  </a:cubicBezTo>
                  <a:cubicBezTo>
                    <a:pt x="24" y="4"/>
                    <a:pt x="36" y="0"/>
                    <a:pt x="50" y="0"/>
                  </a:cubicBezTo>
                  <a:cubicBezTo>
                    <a:pt x="63" y="0"/>
                    <a:pt x="75" y="4"/>
                    <a:pt x="85" y="14"/>
                  </a:cubicBezTo>
                  <a:cubicBezTo>
                    <a:pt x="94" y="24"/>
                    <a:pt x="99" y="35"/>
                    <a:pt x="99" y="49"/>
                  </a:cubicBezTo>
                  <a:cubicBezTo>
                    <a:pt x="99" y="63"/>
                    <a:pt x="94" y="74"/>
                    <a:pt x="85" y="8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3" name="슬라이드 번호 개체 틀 6">
            <a:extLst>
              <a:ext uri="{FF2B5EF4-FFF2-40B4-BE49-F238E27FC236}">
                <a16:creationId xmlns:a16="http://schemas.microsoft.com/office/drawing/2014/main" id="{2D27525A-0A31-54D0-7C3E-93C517316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072718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62C77B-DF28-4051-A2E3-ABFF11DD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959" y="0"/>
            <a:ext cx="10515600" cy="754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50D224-5600-42CF-8A3F-A3F905563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31721"/>
            <a:ext cx="10515600" cy="5408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ECAACC-95AC-47CF-8F0A-8D9A05945555}"/>
              </a:ext>
            </a:extLst>
          </p:cNvPr>
          <p:cNvSpPr/>
          <p:nvPr userDrawn="1"/>
        </p:nvSpPr>
        <p:spPr>
          <a:xfrm>
            <a:off x="-1" y="0"/>
            <a:ext cx="40990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D5233D-620A-46D6-8BB5-3F29F98748DE}"/>
              </a:ext>
            </a:extLst>
          </p:cNvPr>
          <p:cNvSpPr/>
          <p:nvPr userDrawn="1"/>
        </p:nvSpPr>
        <p:spPr>
          <a:xfrm>
            <a:off x="388056" y="754481"/>
            <a:ext cx="11803944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62443F-67A2-4292-92C0-0F5844407A90}"/>
              </a:ext>
            </a:extLst>
          </p:cNvPr>
          <p:cNvSpPr/>
          <p:nvPr userDrawn="1"/>
        </p:nvSpPr>
        <p:spPr>
          <a:xfrm>
            <a:off x="484715" y="0"/>
            <a:ext cx="45719" cy="10515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9EB043-71DB-9F76-BBA9-0F47281AE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AccentLineBottom"/>
          <p:cNvSpPr/>
          <p:nvPr userDrawn="1"/>
        </p:nvSpPr>
        <p:spPr>
          <a:xfrm>
            <a:off x="57150" y="6750000"/>
            <a:ext cx="12143700" cy="19050"/>
          </a:xfrm>
          <a:prstGeom prst="rect">
            <a:avLst/>
          </a:prstGeom>
          <a:gradFill>
            <a:gsLst>
              <a:gs pos="0">
                <a:srgbClr val="3A86FF">
                  <a:alpha val="0"/>
                </a:srgbClr>
              </a:gs>
              <a:gs pos="30000">
                <a:srgbClr val="3A86FF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5" name="AccentTriangle"/>
          <p:cNvSpPr/>
          <p:nvPr userDrawn="1"/>
        </p:nvSpPr>
        <p:spPr>
          <a:xfrm rot="10800000">
            <a:off x="11580876" y="0"/>
            <a:ext cx="608076" cy="457200"/>
          </a:xfrm>
          <a:prstGeom prst="rtTriangle">
            <a:avLst/>
          </a:prstGeom>
          <a:solidFill>
            <a:srgbClr val="3A86FF">
              <a:alpha val="8000"/>
            </a:srgbClr>
          </a:solidFill>
          <a:ln w="0"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845745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4" r:id="rId3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2000" b="1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rgbClr val="2C3E5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2C3E5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rgbClr val="2C3E5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rgbClr val="2C3E5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rgbClr val="2C3E5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rgbClr val="7F8FA9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7.png"/><Relationship Id="rId9" Type="http://schemas.openxmlformats.org/officeDocument/2006/relationships/image" Target="../media/image8.jp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직사각형 3"/>
          <p:cNvSpPr/>
          <p:nvPr/>
        </p:nvSpPr>
        <p:spPr>
          <a:xfrm>
            <a:off x="1524000" y="1586729"/>
            <a:ext cx="9144000" cy="211243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>
                <a:solidFill>
                  <a:schemeClr val="bg1"/>
                </a:solidFill>
                <a:latin typeface="+mj-ea"/>
                <a:ea typeface="+mj-ea"/>
              </a:rPr>
              <a:t>GTC 2026 </a:t>
            </a:r>
            <a:r>
              <a:rPr lang="ko-KR" altLang="en-US" sz="3200" b="1">
                <a:solidFill>
                  <a:schemeClr val="bg1"/>
                </a:solidFill>
                <a:latin typeface="+mj-ea"/>
                <a:ea typeface="+mj-ea"/>
              </a:rPr>
              <a:t>와 한국산업 영향</a:t>
            </a:r>
            <a:endParaRPr lang="en-US" altLang="ko-KR" sz="32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en-US" altLang="ko-KR" b="1" dirty="0">
              <a:solidFill>
                <a:schemeClr val="bg1"/>
              </a:solidFill>
            </a:endParaRPr>
          </a:p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장동인</a:t>
            </a:r>
            <a:endParaRPr lang="en-US" altLang="ko-KR" b="1" dirty="0">
              <a:solidFill>
                <a:schemeClr val="bg1"/>
              </a:solidFill>
            </a:endParaRPr>
          </a:p>
          <a:p>
            <a:pPr algn="ctr"/>
            <a:r>
              <a:rPr lang="en-US" altLang="ko-KR" b="1">
                <a:solidFill>
                  <a:schemeClr val="bg1"/>
                </a:solidFill>
              </a:rPr>
              <a:t>KAIST</a:t>
            </a:r>
            <a:r>
              <a:rPr lang="en-US" altLang="ko-KR" b="1" dirty="0">
                <a:solidFill>
                  <a:schemeClr val="bg1"/>
                </a:solidFill>
              </a:rPr>
              <a:t> AI </a:t>
            </a:r>
            <a:r>
              <a:rPr lang="ko-KR" altLang="en-US" b="1" dirty="0">
                <a:solidFill>
                  <a:schemeClr val="bg1"/>
                </a:solidFill>
              </a:rPr>
              <a:t>대학원 책임교수</a:t>
            </a:r>
            <a:r>
              <a:rPr lang="en-US" altLang="ko-KR" b="1" dirty="0">
                <a:solidFill>
                  <a:schemeClr val="bg1"/>
                </a:solidFill>
              </a:rPr>
              <a:t>/AIBB LAB </a:t>
            </a:r>
            <a:r>
              <a:rPr lang="ko-KR" altLang="en-US" b="1" dirty="0">
                <a:solidFill>
                  <a:schemeClr val="bg1"/>
                </a:solidFill>
              </a:rPr>
              <a:t>대표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3FF936-4C0F-29B9-86FB-8167594B9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D748C5-3DDC-4F9D-98BF-DAAE0B16E7B0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866229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057400" y="152400"/>
            <a:ext cx="8915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endParaRPr lang="ko-KR" altLang="en-US" sz="1600" b="1" dirty="0">
              <a:solidFill>
                <a:srgbClr val="000066"/>
              </a:solidFill>
              <a:latin typeface="+mn-ea"/>
            </a:endParaRPr>
          </a:p>
        </p:txBody>
      </p:sp>
      <p:sp>
        <p:nvSpPr>
          <p:cNvPr id="12" name="AutoShape 72"/>
          <p:cNvSpPr>
            <a:spLocks noChangeArrowheads="1"/>
          </p:cNvSpPr>
          <p:nvPr/>
        </p:nvSpPr>
        <p:spPr bwMode="gray">
          <a:xfrm rot="5400000">
            <a:off x="2617054" y="-118224"/>
            <a:ext cx="246062" cy="24799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경력</a:t>
            </a:r>
            <a:endParaRPr lang="en-US" altLang="en-US" sz="12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sp>
        <p:nvSpPr>
          <p:cNvPr id="14" name="Text Box 73"/>
          <p:cNvSpPr txBox="1">
            <a:spLocks noChangeArrowheads="1"/>
          </p:cNvSpPr>
          <p:nvPr/>
        </p:nvSpPr>
        <p:spPr bwMode="auto">
          <a:xfrm>
            <a:off x="1493398" y="1419491"/>
            <a:ext cx="4080412" cy="283923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현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, 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KAIST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김재철 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AI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대학원 책임교수 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(CAIO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과정 담당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)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현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, AiBB Lab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대표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(AI, Big Data, Blockchain)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연세대 의료 블록체인 고위과정 주임교수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국방과학연구소 빅데이터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/AI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과제 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PM 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한국 </a:t>
            </a:r>
            <a:r>
              <a:rPr lang="ko-KR" altLang="en-US" sz="900" dirty="0" err="1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테라데이타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 부사장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미래읽기 컨설팅 대표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Ernst &amp; Young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컨설팅 본부장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Deloitte consulting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전무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(CRM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부문 파트너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)</a:t>
            </a:r>
            <a:endParaRPr lang="en-US" altLang="ko-KR" sz="900" dirty="0"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SAS Korea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부사장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Siebel Korea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 초대 지사장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Oracle Korea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 컨설팅 본부 이사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Oracle HQ, Senior Principal Consultant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Germany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Amadeus, System Support Engineer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American Airline Information Service, Consultant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EDS, System Engineer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VISA International, Programmer</a:t>
            </a:r>
          </a:p>
        </p:txBody>
      </p:sp>
      <p:sp>
        <p:nvSpPr>
          <p:cNvPr id="15" name="AutoShape 78"/>
          <p:cNvSpPr>
            <a:spLocks noChangeArrowheads="1"/>
          </p:cNvSpPr>
          <p:nvPr/>
        </p:nvSpPr>
        <p:spPr bwMode="gray">
          <a:xfrm rot="5400000">
            <a:off x="7424682" y="-235812"/>
            <a:ext cx="246063" cy="2823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전문분야</a:t>
            </a:r>
            <a:endParaRPr lang="en-US" altLang="en-US" sz="12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sp>
        <p:nvSpPr>
          <p:cNvPr id="16" name="Text Box 82"/>
          <p:cNvSpPr txBox="1">
            <a:spLocks noChangeArrowheads="1"/>
          </p:cNvSpPr>
          <p:nvPr/>
        </p:nvSpPr>
        <p:spPr bwMode="auto">
          <a:xfrm>
            <a:off x="6486212" y="1419491"/>
            <a:ext cx="3921877" cy="69865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돈되는 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AI</a:t>
            </a: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 도입과 활용을 위한 전략컨설팅</a:t>
            </a:r>
            <a:endParaRPr lang="en-US" altLang="ko-KR" sz="90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CEO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를 위한 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AI </a:t>
            </a: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코딩 스쿨 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(</a:t>
            </a: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운영중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)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실무자를 위한 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AI </a:t>
            </a: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코딩 스쿨 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(</a:t>
            </a: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운영중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)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벤처기업 고문</a:t>
            </a:r>
            <a:r>
              <a:rPr lang="en-US" altLang="ko-KR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/Advisor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7" name="AutoShape 78"/>
          <p:cNvSpPr>
            <a:spLocks noChangeArrowheads="1"/>
          </p:cNvSpPr>
          <p:nvPr/>
        </p:nvSpPr>
        <p:spPr bwMode="gray">
          <a:xfrm rot="5400000">
            <a:off x="7424681" y="1493837"/>
            <a:ext cx="246063" cy="2823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저서</a:t>
            </a:r>
            <a:endParaRPr lang="en-US" altLang="en-US" sz="12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sp>
        <p:nvSpPr>
          <p:cNvPr id="23" name="AutoShape 75"/>
          <p:cNvSpPr>
            <a:spLocks noChangeArrowheads="1"/>
          </p:cNvSpPr>
          <p:nvPr/>
        </p:nvSpPr>
        <p:spPr bwMode="gray">
          <a:xfrm rot="5400000">
            <a:off x="2618029" y="3875391"/>
            <a:ext cx="246063" cy="262526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800" b="1" dirty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학력</a:t>
            </a:r>
            <a:endParaRPr lang="en-US" altLang="en-US" sz="800" b="1" dirty="0"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24" name="Text Box 76"/>
          <p:cNvSpPr txBox="1">
            <a:spLocks noChangeArrowheads="1"/>
          </p:cNvSpPr>
          <p:nvPr/>
        </p:nvSpPr>
        <p:spPr bwMode="auto">
          <a:xfrm>
            <a:off x="1493398" y="5460277"/>
            <a:ext cx="3741280" cy="67864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서울과학종합대학원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, </a:t>
            </a:r>
            <a:r>
              <a:rPr lang="ko-KR" altLang="en-US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경영학박사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(Big Data)</a:t>
            </a:r>
          </a:p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University of Southern California, </a:t>
            </a:r>
            <a:r>
              <a:rPr lang="ko-KR" altLang="en-US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컴퓨터 공학 석사 졸업</a:t>
            </a:r>
            <a:endParaRPr lang="en-US" altLang="ko-KR" sz="900" dirty="0"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서울 공대 원자핵 공학과 졸업</a:t>
            </a:r>
            <a:endParaRPr lang="en-US" altLang="ko-KR" sz="900" dirty="0">
              <a:latin typeface="맑은 고딕" pitchFamily="50" charset="-127"/>
              <a:ea typeface="맑은 고딕" pitchFamily="50" charset="-127"/>
            </a:endParaRPr>
          </a:p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용산고등학교졸업</a:t>
            </a:r>
          </a:p>
        </p:txBody>
      </p:sp>
      <p:sp>
        <p:nvSpPr>
          <p:cNvPr id="25" name="AutoShape 78">
            <a:extLst>
              <a:ext uri="{FF2B5EF4-FFF2-40B4-BE49-F238E27FC236}">
                <a16:creationId xmlns:a16="http://schemas.microsoft.com/office/drawing/2014/main" id="{4647E93B-41E3-4819-9136-CA0E392C9BD6}"/>
              </a:ext>
            </a:extLst>
          </p:cNvPr>
          <p:cNvSpPr>
            <a:spLocks noChangeArrowheads="1"/>
          </p:cNvSpPr>
          <p:nvPr/>
        </p:nvSpPr>
        <p:spPr bwMode="gray">
          <a:xfrm rot="5400000">
            <a:off x="7424680" y="3636382"/>
            <a:ext cx="246063" cy="2823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자격증</a:t>
            </a:r>
            <a:endParaRPr lang="en-US" altLang="en-US" sz="12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9128D67E-74FA-4CEB-960F-9166C6E528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307" y="5207560"/>
            <a:ext cx="1730341" cy="1327797"/>
          </a:xfrm>
          <a:prstGeom prst="rect">
            <a:avLst/>
          </a:prstGeom>
        </p:spPr>
      </p:pic>
      <p:sp>
        <p:nvSpPr>
          <p:cNvPr id="9" name="Text Box 82">
            <a:extLst>
              <a:ext uri="{FF2B5EF4-FFF2-40B4-BE49-F238E27FC236}">
                <a16:creationId xmlns:a16="http://schemas.microsoft.com/office/drawing/2014/main" id="{C1809002-A69A-46FB-B0B9-E40F3BD68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2786" y="5655186"/>
            <a:ext cx="1993910" cy="76328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구글 텐서플로우</a:t>
            </a:r>
            <a:r>
              <a:rPr lang="en-US" altLang="ko-KR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(AI)</a:t>
            </a:r>
            <a:r>
              <a:rPr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 개발자 자격증</a:t>
            </a:r>
            <a:endParaRPr lang="en-US" altLang="ko-KR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2020.5.10 </a:t>
            </a:r>
            <a:r>
              <a:rPr lang="ko-KR" altLang="en-US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합격</a:t>
            </a:r>
            <a:endParaRPr lang="en-US" altLang="ko-KR" sz="80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endParaRPr lang="en-US" altLang="ko-KR" sz="80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ko-KR" altLang="en-US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연락처</a:t>
            </a: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: 010-5259-9509</a:t>
            </a: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donchang0725@gmail.com</a:t>
            </a:r>
            <a:endParaRPr lang="en-US" altLang="ko-KR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id="{367568EC-1F92-49C9-841E-AE80E25B604C}"/>
              </a:ext>
            </a:extLst>
          </p:cNvPr>
          <p:cNvSpPr txBox="1">
            <a:spLocks/>
          </p:cNvSpPr>
          <p:nvPr/>
        </p:nvSpPr>
        <p:spPr>
          <a:xfrm>
            <a:off x="1524000" y="217630"/>
            <a:ext cx="8610600" cy="4572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기업과 </a:t>
            </a:r>
            <a:r>
              <a:rPr lang="en-US" altLang="ko-KR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를 아는 교수</a:t>
            </a:r>
            <a:r>
              <a:rPr lang="en-US" altLang="ko-KR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장 동 인</a:t>
            </a:r>
            <a:endParaRPr lang="ko-KR" altLang="en-US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48F81D-0AAE-4B54-9BBB-2BF4C59261C2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3" name="그림 32" descr="공피고아1.jpg">
            <a:extLst>
              <a:ext uri="{FF2B5EF4-FFF2-40B4-BE49-F238E27FC236}">
                <a16:creationId xmlns:a16="http://schemas.microsoft.com/office/drawing/2014/main" id="{06BE0365-8A99-4934-A48E-792DB7F1217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745927" y="3177657"/>
            <a:ext cx="840520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08BBA4B6-4987-42EF-8F13-727082EC2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741761" y="4503512"/>
            <a:ext cx="844686" cy="1113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ED91DB7B-0B6E-4BCE-8A28-25F5A38656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28" y="3177657"/>
            <a:ext cx="754342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E56E2C6-7D19-4CC6-8C5A-6026070A45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9925" y="3177657"/>
            <a:ext cx="753146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그림 36" descr="텍스트, 화이트보드이(가) 표시된 사진&#10;&#10;자동 생성된 설명">
            <a:extLst>
              <a:ext uri="{FF2B5EF4-FFF2-40B4-BE49-F238E27FC236}">
                <a16:creationId xmlns:a16="http://schemas.microsoft.com/office/drawing/2014/main" id="{47D50C41-8B8A-4099-A3F5-1A65377FEC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960" y="3177657"/>
            <a:ext cx="822708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 descr="인간의 얼굴, 미소, 사람, 인물사진이(가) 표시된 사진&#10;&#10;자동 생성된 설명">
            <a:extLst>
              <a:ext uri="{FF2B5EF4-FFF2-40B4-BE49-F238E27FC236}">
                <a16:creationId xmlns:a16="http://schemas.microsoft.com/office/drawing/2014/main" id="{916139AB-DE78-F27F-1465-F180D60F9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4721" y="-15308"/>
            <a:ext cx="1123763" cy="13634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C9D496-F698-D5FB-4733-890FC25106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0802" y="3165430"/>
            <a:ext cx="767132" cy="11383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991447-524D-1E52-EF9A-8BFCDF20C0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4195" y="3177657"/>
            <a:ext cx="847349" cy="111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28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ACD1588-E6B5-FFA7-25AC-94C472C29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D748C5-3DDC-4F9D-98BF-DAAE0B16E7B0}" type="slidenum">
              <a:rPr lang="ko-KR" altLang="en-US" smtClean="0"/>
              <a:pPr/>
              <a:t>3</a:t>
            </a:fld>
            <a:endParaRPr lang="ko-KR" altLang="en-US" sz="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4EFC84-4399-4EED-8EEC-5D6060494D31}"/>
              </a:ext>
            </a:extLst>
          </p:cNvPr>
          <p:cNvSpPr txBox="1"/>
          <p:nvPr/>
        </p:nvSpPr>
        <p:spPr>
          <a:xfrm>
            <a:off x="1651000" y="228600"/>
            <a:ext cx="635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B2A4A"/>
                </a:solidFill>
              </a:rPr>
              <a:t>목차 </a:t>
            </a:r>
            <a:r>
              <a:rPr lang="en-US" altLang="ko-KR" sz="2000" b="1">
                <a:solidFill>
                  <a:srgbClr val="1B2A4A"/>
                </a:solidFill>
              </a:rPr>
              <a:t>(Table of Contents)</a:t>
            </a:r>
            <a:endParaRPr lang="ko-KR" altLang="en-US" sz="2000" b="1">
              <a:solidFill>
                <a:srgbClr val="1B2A4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1A730-94AC-4109-9679-A418E71C7BB2}"/>
              </a:ext>
            </a:extLst>
          </p:cNvPr>
          <p:cNvSpPr txBox="1"/>
          <p:nvPr/>
        </p:nvSpPr>
        <p:spPr>
          <a:xfrm>
            <a:off x="1574800" y="1016000"/>
            <a:ext cx="8788400" cy="35259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2C3E5A"/>
                </a:solidFill>
              </a:rPr>
              <a:t>Part 1.  GTC 2026 </a:t>
            </a:r>
            <a:r>
              <a:rPr lang="ko-KR" altLang="en-US" sz="1400" dirty="0">
                <a:solidFill>
                  <a:srgbClr val="2C3E5A"/>
                </a:solidFill>
              </a:rPr>
              <a:t>개요 — 최신 업데이트 · Rubin · Agentic AI · 세션 가이드</a:t>
            </a: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2C3E5A"/>
                </a:solidFill>
              </a:rPr>
              <a:t>Part 2.  </a:t>
            </a:r>
            <a:r>
              <a:rPr lang="ko-KR" altLang="en-US" sz="1400" dirty="0">
                <a:solidFill>
                  <a:srgbClr val="2C3E5A"/>
                </a:solidFill>
              </a:rPr>
              <a:t>키노트 예상 — "AI 5단 케이크" Full Stack 선언</a:t>
            </a: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2C3E5A"/>
                </a:solidFill>
              </a:rPr>
              <a:t>Part 3.  </a:t>
            </a:r>
            <a:r>
              <a:rPr lang="ko-KR" altLang="en-US" sz="1400" dirty="0">
                <a:solidFill>
                  <a:srgbClr val="2C3E5A"/>
                </a:solidFill>
              </a:rPr>
              <a:t>핵심 기술 테마 Deep Dive</a:t>
            </a: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2C3E5A"/>
                </a:solidFill>
              </a:rPr>
              <a:t>Part 4.  </a:t>
            </a:r>
            <a:r>
              <a:rPr lang="ko-KR" altLang="en-US" sz="1400" dirty="0">
                <a:solidFill>
                  <a:srgbClr val="2C3E5A"/>
                </a:solidFill>
              </a:rPr>
              <a:t>전시 부스 &amp; 생태계</a:t>
            </a: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2C3E5A"/>
                </a:solidFill>
              </a:rPr>
              <a:t>Part 5.  AI Factory — </a:t>
            </a:r>
            <a:r>
              <a:rPr lang="ko-KR" altLang="en-US" sz="1400" dirty="0">
                <a:solidFill>
                  <a:srgbClr val="2C3E5A"/>
                </a:solidFill>
              </a:rPr>
              <a:t>기가와트 시대의 AI 인프라 전략</a:t>
            </a: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2C3E5A"/>
                </a:solidFill>
              </a:rPr>
              <a:t>Part 6.  </a:t>
            </a:r>
            <a:r>
              <a:rPr lang="ko-KR" altLang="en-US" sz="1400" dirty="0">
                <a:solidFill>
                  <a:srgbClr val="2C3E5A"/>
                </a:solidFill>
              </a:rPr>
              <a:t>투자자 관점 — 시장 영향 분석</a:t>
            </a: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2C3E5A"/>
                </a:solidFill>
              </a:rPr>
              <a:t>Part 7.  </a:t>
            </a:r>
            <a:r>
              <a:rPr lang="ko-KR" altLang="en-US" sz="1400" dirty="0">
                <a:solidFill>
                  <a:srgbClr val="2C3E5A"/>
                </a:solidFill>
              </a:rPr>
              <a:t>키 인사이트 &amp; 시사점</a:t>
            </a: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1B5E8A"/>
                </a:solidFill>
              </a:rPr>
              <a:t>Part 8.  GTC 2026</a:t>
            </a:r>
            <a:r>
              <a:rPr lang="ko-KR" altLang="en-US" sz="1400" dirty="0">
                <a:solidFill>
                  <a:srgbClr val="1B5E8A"/>
                </a:solidFill>
              </a:rPr>
              <a:t>과 한국 산업의 영향 — AI 밸류체인 전방위 분석</a:t>
            </a: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2C3E5A"/>
                </a:solidFill>
              </a:rPr>
              <a:t>부록      용어 사전 / 로드맵 / 세션 추천 / 참고 출처</a:t>
            </a:r>
          </a:p>
        </p:txBody>
      </p:sp>
    </p:spTree>
    <p:extLst>
      <p:ext uri="{BB962C8B-B14F-4D97-AF65-F5344CB8AC3E}">
        <p14:creationId xmlns:p14="http://schemas.microsoft.com/office/powerpoint/2010/main" val="115758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0167D3-7E9B-A92A-9042-616AF90963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D748C5-3DDC-4F9D-98BF-DAAE0B16E7B0}" type="slidenum">
              <a:rPr lang="ko-KR" altLang="en-US" smtClean="0"/>
              <a:pPr/>
              <a:t>4</a:t>
            </a:fld>
            <a:endParaRPr lang="ko-KR" altLang="en-US" sz="8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2DF85E-FF68-4DBD-B712-74FF5B984CA7}"/>
              </a:ext>
            </a:extLst>
          </p:cNvPr>
          <p:cNvSpPr/>
          <p:nvPr/>
        </p:nvSpPr>
        <p:spPr>
          <a:xfrm>
            <a:off x="1524000" y="2286000"/>
            <a:ext cx="9144000" cy="76200"/>
          </a:xfrm>
          <a:prstGeom prst="rect">
            <a:avLst/>
          </a:prstGeom>
          <a:solidFill>
            <a:srgbClr val="3A86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8769E-5B8F-4630-8747-140A54D8FA88}"/>
              </a:ext>
            </a:extLst>
          </p:cNvPr>
          <p:cNvSpPr txBox="1"/>
          <p:nvPr/>
        </p:nvSpPr>
        <p:spPr>
          <a:xfrm>
            <a:off x="1524000" y="1778000"/>
            <a:ext cx="914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3A86FF"/>
                </a:solidFill>
              </a:rPr>
              <a:t>Part 1</a:t>
            </a:r>
            <a:endParaRPr lang="ko-KR" altLang="en-US" b="1">
              <a:solidFill>
                <a:srgbClr val="3A86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36ACC7-B093-46F0-A6E0-F62FC1225479}"/>
              </a:ext>
            </a:extLst>
          </p:cNvPr>
          <p:cNvSpPr txBox="1"/>
          <p:nvPr/>
        </p:nvSpPr>
        <p:spPr>
          <a:xfrm>
            <a:off x="1524000" y="2540000"/>
            <a:ext cx="914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1B2A4A"/>
                </a:solidFill>
              </a:rPr>
              <a:t>GTC 2026 </a:t>
            </a:r>
            <a:r>
              <a:rPr lang="ko-KR" altLang="en-US" sz="3000" b="1">
                <a:solidFill>
                  <a:srgbClr val="1B2A4A"/>
                </a:solidFill>
              </a:rPr>
              <a:t>개요 </a:t>
            </a:r>
            <a:r>
              <a:rPr lang="en-US" altLang="ko-KR" sz="3000" b="1">
                <a:solidFill>
                  <a:srgbClr val="1B2A4A"/>
                </a:solidFill>
              </a:rPr>
              <a:t>— AI </a:t>
            </a:r>
            <a:r>
              <a:rPr lang="ko-KR" altLang="en-US" sz="3000" b="1">
                <a:solidFill>
                  <a:srgbClr val="1B2A4A"/>
                </a:solidFill>
              </a:rPr>
              <a:t>산업의 시작</a:t>
            </a:r>
          </a:p>
        </p:txBody>
      </p:sp>
    </p:spTree>
    <p:extLst>
      <p:ext uri="{BB962C8B-B14F-4D97-AF65-F5344CB8AC3E}">
        <p14:creationId xmlns:p14="http://schemas.microsoft.com/office/powerpoint/2010/main" val="1342651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7C0CA32-F521-6628-B3D1-BF237B98F3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D748C5-3DDC-4F9D-98BF-DAAE0B16E7B0}" type="slidenum">
              <a:rPr lang="ko-KR" altLang="en-US" smtClean="0"/>
              <a:pPr/>
              <a:t>5</a:t>
            </a:fld>
            <a:endParaRPr lang="ko-KR" altLang="en-US" sz="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B9C14-1A6A-4E25-BFAB-651DDF12A217}"/>
              </a:ext>
            </a:extLst>
          </p:cNvPr>
          <p:cNvSpPr txBox="1"/>
          <p:nvPr/>
        </p:nvSpPr>
        <p:spPr>
          <a:xfrm>
            <a:off x="1524000" y="2032000"/>
            <a:ext cx="914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600" b="1">
                <a:solidFill>
                  <a:srgbClr val="1B2A4A"/>
                </a:solidFill>
              </a:rPr>
              <a:t>Thank You</a:t>
            </a:r>
            <a:endParaRPr lang="ko-KR" altLang="en-US" sz="3600" b="1">
              <a:solidFill>
                <a:srgbClr val="1B2A4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D05F8-5EFC-48BA-B8C3-2627EB94E4A7}"/>
              </a:ext>
            </a:extLst>
          </p:cNvPr>
          <p:cNvSpPr txBox="1"/>
          <p:nvPr/>
        </p:nvSpPr>
        <p:spPr>
          <a:xfrm>
            <a:off x="1524000" y="2921000"/>
            <a:ext cx="914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>
                <a:solidFill>
                  <a:srgbClr val="3A86FF"/>
                </a:solidFill>
              </a:rPr>
              <a:t>Q &amp; A</a:t>
            </a:r>
            <a:endParaRPr lang="ko-KR" altLang="en-US" sz="2800">
              <a:solidFill>
                <a:srgbClr val="3A86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7F106-7B7A-4E9A-B9F6-9A657D3F7F5B}"/>
              </a:ext>
            </a:extLst>
          </p:cNvPr>
          <p:cNvSpPr txBox="1"/>
          <p:nvPr/>
        </p:nvSpPr>
        <p:spPr>
          <a:xfrm>
            <a:off x="1524000" y="4064000"/>
            <a:ext cx="914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7F8FA9"/>
                </a:solidFill>
              </a:rPr>
              <a:t>장동인 </a:t>
            </a:r>
            <a:r>
              <a:rPr lang="en-US" altLang="ko-KR" sz="1400">
                <a:solidFill>
                  <a:srgbClr val="7F8FA9"/>
                </a:solidFill>
              </a:rPr>
              <a:t>| KAIST AI </a:t>
            </a:r>
            <a:r>
              <a:rPr lang="ko-KR" altLang="en-US" sz="1400">
                <a:solidFill>
                  <a:srgbClr val="7F8FA9"/>
                </a:solidFill>
              </a:rPr>
              <a:t>대학원 책임교수 </a:t>
            </a:r>
            <a:r>
              <a:rPr lang="en-US" altLang="ko-KR" sz="1400">
                <a:solidFill>
                  <a:srgbClr val="7F8FA9"/>
                </a:solidFill>
              </a:rPr>
              <a:t>/ AIBB LAB </a:t>
            </a:r>
            <a:r>
              <a:rPr lang="ko-KR" altLang="en-US" sz="1400">
                <a:solidFill>
                  <a:srgbClr val="7F8FA9"/>
                </a:solidFill>
              </a:rPr>
              <a:t>대표
</a:t>
            </a:r>
            <a:r>
              <a:rPr lang="en-US" altLang="ko-KR" sz="1400">
                <a:solidFill>
                  <a:srgbClr val="7F8FA9"/>
                </a:solidFill>
              </a:rPr>
              <a:t>donchang0725@gmail.com</a:t>
            </a:r>
            <a:endParaRPr lang="ko-KR" altLang="en-US" sz="1400">
              <a:solidFill>
                <a:srgbClr val="7F8F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26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모던 테크">
      <a:majorFont>
        <a:latin typeface="Segoe UI Semibold" panose="0211000402020202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405A54-4181-46A8-9FB7-561A6204D55C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44568</TotalTime>
  <Words>328</Words>
  <Application>Microsoft Office PowerPoint</Application>
  <PresentationFormat>와이드스크린</PresentationFormat>
  <Paragraphs>59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Arial</vt:lpstr>
      <vt:lpstr>Segoe UI</vt:lpstr>
      <vt:lpstr>Segoe UI Semibold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chang don</dc:creator>
  <cp:lastModifiedBy>CHANG DON</cp:lastModifiedBy>
  <cp:revision>928</cp:revision>
  <cp:lastPrinted>2025-02-10T02:52:20Z</cp:lastPrinted>
  <dcterms:created xsi:type="dcterms:W3CDTF">2020-07-31T12:59:17Z</dcterms:created>
  <dcterms:modified xsi:type="dcterms:W3CDTF">2026-04-10T19:16:02Z</dcterms:modified>
</cp:coreProperties>
</file>